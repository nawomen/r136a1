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575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Полная стоимость, ₽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Полная стоимость, ₽</c:v>
          </c:tx>
          <c:spPr>
            <a:solidFill>
              <a:srgbClr val="AC83F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706283"/>
              </a:solidFill>
            </c:spPr>
            <c:extLst>
              <c:ext xmlns:c16="http://schemas.microsoft.com/office/drawing/2014/chart" uri="{C3380CC4-5D6E-409C-BE32-E72D297353CC}">
                <c16:uniqueId val="{00000001-D11F-4168-9C50-E12A76557118}"/>
              </c:ext>
            </c:extLst>
          </c:dPt>
          <c:dPt>
            <c:idx val="1"/>
            <c:invertIfNegative val="0"/>
            <c:bubble3D val="0"/>
            <c:spPr>
              <a:solidFill>
                <a:srgbClr val="AC83FF"/>
              </a:solidFill>
            </c:spPr>
            <c:extLst>
              <c:ext xmlns:c16="http://schemas.microsoft.com/office/drawing/2014/chart" uri="{C3380CC4-5D6E-409C-BE32-E72D297353CC}">
                <c16:uniqueId val="{00000003-D11F-4168-9C50-E12A76557118}"/>
              </c:ext>
            </c:extLst>
          </c:dPt>
          <c:dLbls>
            <c:numFmt formatCode="#\ 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F5F3FC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Отдельные закупки</c:v>
                </c:pt>
                <c:pt idx="1">
                  <c:v>Общая партия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420000</c:v>
                </c:pt>
                <c:pt idx="1">
                  <c:v>375500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11F-4168-9C50-E12A765571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6668">
            <a:solidFill>
              <a:srgbClr val="424052"/>
            </a:solidFill>
          </a:ln>
        </c:spPr>
        <c:txPr>
          <a:bodyPr anchorCtr="1"/>
          <a:lstStyle/>
          <a:p>
            <a:pPr>
              <a:defRPr sz="1425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0000"/>
          <c:min val="0"/>
        </c:scaling>
        <c:delete val="0"/>
        <c:axPos val="l"/>
        <c:majorGridlines>
          <c:spPr>
            <a:ln w="6668">
              <a:solidFill>
                <a:srgbClr val="353345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8650112"/>
        <c:crosses val="autoZero"/>
        <c:crossBetween val="between"/>
        <c:majorUnit val="100000"/>
      </c:valAx>
      <c:spPr>
        <a:solidFill>
          <a:srgbClr val="181A26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B0D14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1. </a:t>
            </a:r>
            <a:r>
              <a:rPr dirty="0" err="1"/>
              <a:t>Экономия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подготовки</a:t>
            </a:r>
            <a:r>
              <a:rPr dirty="0"/>
              <a:t> </a:t>
            </a:r>
            <a:r>
              <a:rPr dirty="0" err="1"/>
              <a:t>коммерческого</a:t>
            </a:r>
            <a:r>
              <a:rPr dirty="0"/>
              <a:t> </a:t>
            </a:r>
            <a:r>
              <a:rPr dirty="0" err="1"/>
              <a:t>предложения</a:t>
            </a:r>
            <a:r>
              <a:rPr dirty="0"/>
              <a:t>: 21,8% в </a:t>
            </a:r>
            <a:r>
              <a:rPr dirty="0" err="1"/>
              <a:t>автопрогоне</a:t>
            </a:r>
            <a:r>
              <a:rPr dirty="0"/>
              <a:t>.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данным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, </a:t>
            </a:r>
            <a:r>
              <a:rPr dirty="0" err="1"/>
              <a:t>автозаполнение</a:t>
            </a:r>
            <a:r>
              <a:rPr dirty="0"/>
              <a:t> </a:t>
            </a:r>
            <a:r>
              <a:rPr dirty="0" err="1"/>
              <a:t>сокращает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и </a:t>
            </a:r>
            <a:r>
              <a:rPr dirty="0" err="1"/>
              <a:t>экономит</a:t>
            </a:r>
            <a:r>
              <a:rPr dirty="0"/>
              <a:t> </a:t>
            </a:r>
            <a:r>
              <a:rPr dirty="0" err="1"/>
              <a:t>человеческое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21,8%.</a:t>
            </a:r>
          </a:p>
          <a:p>
            <a:r>
              <a:rPr dirty="0"/>
              <a:t>2. </a:t>
            </a:r>
            <a:r>
              <a:rPr dirty="0" err="1"/>
              <a:t>Успешность</a:t>
            </a:r>
            <a:r>
              <a:rPr dirty="0"/>
              <a:t> </a:t>
            </a:r>
            <a:r>
              <a:rPr dirty="0" err="1"/>
              <a:t>сквозных</a:t>
            </a:r>
            <a:r>
              <a:rPr dirty="0"/>
              <a:t> </a:t>
            </a:r>
            <a:r>
              <a:rPr dirty="0" err="1"/>
              <a:t>сценариев</a:t>
            </a:r>
            <a:r>
              <a:rPr dirty="0"/>
              <a:t>: 48/48, 100% </a:t>
            </a:r>
            <a:r>
              <a:rPr dirty="0" err="1"/>
              <a:t>серверных</a:t>
            </a:r>
            <a:r>
              <a:rPr dirty="0"/>
              <a:t> (backend) </a:t>
            </a:r>
            <a:r>
              <a:rPr dirty="0" err="1"/>
              <a:t>проверок</a:t>
            </a:r>
            <a:r>
              <a:rPr dirty="0"/>
              <a:t>. </a:t>
            </a:r>
            <a:r>
              <a:rPr dirty="0" err="1"/>
              <a:t>Проверены</a:t>
            </a:r>
            <a:r>
              <a:rPr dirty="0"/>
              <a:t> </a:t>
            </a:r>
            <a:r>
              <a:rPr dirty="0" err="1"/>
              <a:t>сценарии</a:t>
            </a:r>
            <a:r>
              <a:rPr dirty="0"/>
              <a:t> </a:t>
            </a:r>
            <a:r>
              <a:rPr dirty="0" err="1"/>
              <a:t>заказа</a:t>
            </a:r>
            <a:r>
              <a:rPr dirty="0"/>
              <a:t> и </a:t>
            </a:r>
            <a:r>
              <a:rPr dirty="0" err="1"/>
              <a:t>исполнения</a:t>
            </a:r>
            <a:r>
              <a:rPr dirty="0"/>
              <a:t>.</a:t>
            </a:r>
          </a:p>
          <a:p>
            <a:r>
              <a:rPr dirty="0"/>
              <a:t>3.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правильно</a:t>
            </a:r>
            <a:r>
              <a:rPr dirty="0"/>
              <a:t> </a:t>
            </a:r>
            <a:r>
              <a:rPr dirty="0" err="1"/>
              <a:t>разобранные</a:t>
            </a:r>
            <a:r>
              <a:rPr dirty="0"/>
              <a:t> </a:t>
            </a:r>
            <a:r>
              <a:rPr dirty="0" err="1"/>
              <a:t>заявки</a:t>
            </a:r>
            <a:r>
              <a:rPr dirty="0"/>
              <a:t>: 55/55, 100%. </a:t>
            </a:r>
            <a:r>
              <a:rPr dirty="0" err="1"/>
              <a:t>Сохранены</a:t>
            </a:r>
            <a:r>
              <a:rPr dirty="0"/>
              <a:t> </a:t>
            </a:r>
            <a:r>
              <a:rPr dirty="0" err="1"/>
              <a:t>существенные</a:t>
            </a:r>
            <a:r>
              <a:rPr dirty="0"/>
              <a:t> </a:t>
            </a:r>
            <a:r>
              <a:rPr dirty="0" err="1"/>
              <a:t>факты</a:t>
            </a:r>
            <a:r>
              <a:rPr dirty="0"/>
              <a:t> и </a:t>
            </a:r>
            <a:r>
              <a:rPr dirty="0" err="1"/>
              <a:t>противоречия</a:t>
            </a:r>
            <a:r>
              <a:rPr dirty="0"/>
              <a:t>, </a:t>
            </a:r>
            <a:r>
              <a:rPr dirty="0" err="1"/>
              <a:t>отсутствуют</a:t>
            </a:r>
            <a:r>
              <a:rPr dirty="0"/>
              <a:t> </a:t>
            </a:r>
            <a:r>
              <a:rPr dirty="0" err="1"/>
              <a:t>неподтверждённые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.</a:t>
            </a:r>
          </a:p>
          <a:p>
            <a:r>
              <a:rPr dirty="0"/>
              <a:t>4. </a:t>
            </a:r>
            <a:r>
              <a:rPr dirty="0" err="1"/>
              <a:t>Корректность</a:t>
            </a:r>
            <a:r>
              <a:rPr dirty="0"/>
              <a:t> </a:t>
            </a:r>
            <a:r>
              <a:rPr dirty="0" err="1"/>
              <a:t>взаимодействия</a:t>
            </a:r>
            <a:r>
              <a:rPr dirty="0"/>
              <a:t> </a:t>
            </a:r>
            <a:r>
              <a:rPr dirty="0" err="1"/>
              <a:t>агентных</a:t>
            </a:r>
            <a:r>
              <a:rPr dirty="0"/>
              <a:t> </a:t>
            </a:r>
            <a:r>
              <a:rPr dirty="0" err="1"/>
              <a:t>ролей</a:t>
            </a:r>
            <a:r>
              <a:rPr dirty="0"/>
              <a:t>: 100/100 </a:t>
            </a:r>
            <a:r>
              <a:rPr dirty="0" err="1"/>
              <a:t>вызовов</a:t>
            </a:r>
            <a:r>
              <a:rPr dirty="0"/>
              <a:t> </a:t>
            </a:r>
            <a:r>
              <a:rPr dirty="0" err="1"/>
              <a:t>инструментов</a:t>
            </a:r>
            <a:r>
              <a:rPr dirty="0"/>
              <a:t> и 50/50 </a:t>
            </a:r>
            <a:r>
              <a:rPr dirty="0" err="1"/>
              <a:t>привязок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. </a:t>
            </a:r>
            <a:r>
              <a:rPr dirty="0" err="1"/>
              <a:t>Инструменты</a:t>
            </a:r>
            <a:r>
              <a:rPr dirty="0"/>
              <a:t> </a:t>
            </a:r>
            <a:r>
              <a:rPr dirty="0" err="1"/>
              <a:t>вызываются</a:t>
            </a:r>
            <a:r>
              <a:rPr dirty="0"/>
              <a:t> </a:t>
            </a:r>
            <a:r>
              <a:rPr dirty="0" err="1"/>
              <a:t>нужными</a:t>
            </a:r>
            <a:r>
              <a:rPr dirty="0"/>
              <a:t> </a:t>
            </a:r>
            <a:r>
              <a:rPr dirty="0" err="1"/>
              <a:t>ролями</a:t>
            </a:r>
            <a:r>
              <a:rPr dirty="0"/>
              <a:t>,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попадает</a:t>
            </a:r>
            <a:r>
              <a:rPr dirty="0"/>
              <a:t> в </a:t>
            </a:r>
            <a:r>
              <a:rPr dirty="0" err="1"/>
              <a:t>свою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. </a:t>
            </a:r>
            <a:r>
              <a:rPr dirty="0" err="1"/>
              <a:t>Показатель</a:t>
            </a:r>
            <a:r>
              <a:rPr dirty="0"/>
              <a:t> 100%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слайде</a:t>
            </a:r>
            <a:r>
              <a:rPr dirty="0"/>
              <a:t> </a:t>
            </a:r>
            <a:r>
              <a:rPr dirty="0" err="1"/>
              <a:t>относится</a:t>
            </a:r>
            <a:r>
              <a:rPr dirty="0"/>
              <a:t> к </a:t>
            </a:r>
            <a:r>
              <a:rPr dirty="0" err="1"/>
              <a:t>обеим</a:t>
            </a:r>
            <a:r>
              <a:rPr dirty="0"/>
              <a:t> </a:t>
            </a:r>
            <a:r>
              <a:rPr dirty="0" err="1"/>
              <a:t>этим</a:t>
            </a:r>
            <a:r>
              <a:rPr dirty="0"/>
              <a:t> </a:t>
            </a:r>
            <a:r>
              <a:rPr dirty="0" err="1"/>
              <a:t>проверенным</a:t>
            </a:r>
            <a:r>
              <a:rPr dirty="0"/>
              <a:t> </a:t>
            </a:r>
            <a:r>
              <a:rPr dirty="0" err="1"/>
              <a:t>выборкам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длительности</a:t>
            </a:r>
            <a:r>
              <a:rPr dirty="0"/>
              <a:t> </a:t>
            </a:r>
            <a:r>
              <a:rPr dirty="0" err="1"/>
              <a:t>эксперимента</a:t>
            </a:r>
            <a:r>
              <a:rPr dirty="0"/>
              <a:t>, </a:t>
            </a:r>
            <a:r>
              <a:rPr dirty="0" err="1"/>
              <a:t>составе</a:t>
            </a:r>
            <a:r>
              <a:rPr dirty="0"/>
              <a:t> </a:t>
            </a:r>
            <a:r>
              <a:rPr dirty="0" err="1"/>
              <a:t>выборки</a:t>
            </a:r>
            <a:r>
              <a:rPr dirty="0"/>
              <a:t> и </a:t>
            </a:r>
            <a:r>
              <a:rPr dirty="0" err="1"/>
              <a:t>методике</a:t>
            </a:r>
            <a:r>
              <a:rPr dirty="0"/>
              <a:t> </a:t>
            </a:r>
            <a:r>
              <a:rPr dirty="0" err="1"/>
              <a:t>замера</a:t>
            </a:r>
            <a:r>
              <a:rPr dirty="0"/>
              <a:t> в </a:t>
            </a:r>
            <a:r>
              <a:rPr dirty="0" err="1"/>
              <a:t>предоставленной</a:t>
            </a:r>
            <a:r>
              <a:rPr dirty="0"/>
              <a:t> </a:t>
            </a:r>
            <a:r>
              <a:rPr dirty="0" err="1"/>
              <a:t>таблице</a:t>
            </a:r>
            <a:r>
              <a:rPr dirty="0"/>
              <a:t> </a:t>
            </a:r>
            <a:r>
              <a:rPr dirty="0" err="1"/>
              <a:t>отсутствуют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96FB85A-9836-4D68-84BE-3A852BFD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526A91D-A5CB-4DD1-AB0F-4BF485919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1B0408A-E59D-4536-84AA-A2D8B070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A90BFD0-A90B-4817-9C89-64A1A4BA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BA7D742-6139-48F8-A77B-0B0DEF41E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C77D30F-1DB5-4269-A61F-DF89B058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02E20BB-59AD-496B-AC54-853275091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9E34DBF-199C-445C-B73D-A9D4AE2086F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79DA386-3F86-4FD3-88FA-D1ADD7B4F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86086BC-D68D-43D4-B596-6F54CDA48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50AED0-7DEA-47B6-B9B0-AD609220D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1" name="Смысловой блок 1 64-510">
            <a:extLst>
              <a:ext uri="{FF2B5EF4-FFF2-40B4-BE49-F238E27FC236}">
                <a16:creationId xmlns:a16="http://schemas.microsoft.com/office/drawing/2014/main" id="{5901DCBE-410C-45AB-BE76-63AFEE1861F9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5476875" cy="819150"/>
          </a:xfrm>
          <a:prstGeom prst="roundRect">
            <a:avLst>
              <a:gd name="adj" fmla="val 23256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Смысловой блок 1 64-57">
            <a:extLst>
              <a:ext uri="{FF2B5EF4-FFF2-40B4-BE49-F238E27FC236}">
                <a16:creationId xmlns:a16="http://schemas.microsoft.com/office/drawing/2014/main" id="{C18ECB05-D163-492A-8A01-D38A174498F9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790700" cy="438150"/>
          </a:xfrm>
          <a:prstGeom prst="roundRect">
            <a:avLst>
              <a:gd name="adj" fmla="val 43478"/>
            </a:avLst>
          </a:prstGeom>
          <a:gradFill>
            <a:gsLst>
              <a:gs pos="0">
                <a:srgbClr val="2D2440"/>
              </a:gs>
              <a:gs pos="100000">
                <a:srgbClr val="191B28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RLT.StartUp">
            <a:extLst>
              <a:ext uri="{FF2B5EF4-FFF2-40B4-BE49-F238E27FC236}">
                <a16:creationId xmlns:a16="http://schemas.microsoft.com/office/drawing/2014/main" id="{513CF89D-9083-4FED-AE00-27B02C058ADD}"/>
              </a:ext>
            </a:extLst>
          </p:cNvPr>
          <p:cNvSpPr>
            <a:spLocks noGrp="1"/>
          </p:cNvSpPr>
          <p:nvPr/>
        </p:nvSpPr>
        <p:spPr>
          <a:xfrm>
            <a:off x="790575" y="6286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13000"/>
              </a:lnSpc>
              <a:buNone/>
              <a:defRPr sz="14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BA9AFF"/>
                </a:solidFill>
                <a:latin typeface="Arial"/>
                <a:ea typeface="Arial"/>
                <a:cs typeface="Arial"/>
              </a:rPr>
              <a:t>RLT.StartUp</a:t>
            </a:r>
            <a:endParaRPr sz="1425" b="1" dirty="0">
              <a:solidFill>
                <a:srgbClr val="BA9A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ПоРукам">
            <a:extLst>
              <a:ext uri="{FF2B5EF4-FFF2-40B4-BE49-F238E27FC236}">
                <a16:creationId xmlns:a16="http://schemas.microsoft.com/office/drawing/2014/main" id="{2DD8F021-06A4-433A-ADB8-81F4458BC153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6477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6" name="Маркетплейс координации&#10;ИИ-агентов для биз">
            <a:extLst>
              <a:ext uri="{FF2B5EF4-FFF2-40B4-BE49-F238E27FC236}">
                <a16:creationId xmlns:a16="http://schemas.microsoft.com/office/drawing/2014/main" id="{E8EB6DC0-2122-4EE0-9BA8-C5234BAE8674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59626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Маркетплейс координации</a:t>
            </a:r>
          </a:p>
          <a:p>
            <a:pPr algn="l">
              <a:lnSpc>
                <a:spcPct val="113000"/>
              </a:lnSpc>
              <a:buNone/>
              <a:defRPr sz="26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ИИ-агентов для бизнеса</a:t>
            </a:r>
          </a:p>
        </p:txBody>
      </p:sp>
      <p:sp>
        <p:nvSpPr>
          <p:cNvPr id="7" name="Закупки и производство российских компаний">
            <a:extLst>
              <a:ext uri="{FF2B5EF4-FFF2-40B4-BE49-F238E27FC236}">
                <a16:creationId xmlns:a16="http://schemas.microsoft.com/office/drawing/2014/main" id="{60856AF3-F2BF-4AD2-BB97-C2D36607578D}"/>
              </a:ext>
            </a:extLst>
          </p:cNvPr>
          <p:cNvSpPr>
            <a:spLocks noGrp="1"/>
          </p:cNvSpPr>
          <p:nvPr/>
        </p:nvSpPr>
        <p:spPr>
          <a:xfrm>
            <a:off x="838200" y="4929188"/>
            <a:ext cx="50196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Закупки и производство</a:t>
            </a:r>
          </a:p>
          <a:p>
            <a:pPr algn="l">
              <a:lnSpc>
                <a:spcPct val="113000"/>
              </a:lnSpc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российских компаний</a:t>
            </a:r>
          </a:p>
        </p:txBody>
      </p:sp>
      <p:sp>
        <p:nvSpPr>
          <p:cNvPr id="8" name="rlt.trupper.ru">
            <a:extLst>
              <a:ext uri="{FF2B5EF4-FFF2-40B4-BE49-F238E27FC236}">
                <a16:creationId xmlns:a16="http://schemas.microsoft.com/office/drawing/2014/main" id="{CDB32799-4CEF-4329-8588-2E5E55FF4340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7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EE85"/>
                </a:solidFill>
                <a:latin typeface="Arial"/>
                <a:ea typeface="Arial"/>
                <a:cs typeface="Arial"/>
              </a:rPr>
              <a:t>rlt.trupper.ru</a:t>
            </a:r>
          </a:p>
        </p:txBody>
      </p:sp>
      <p:sp>
        <p:nvSpPr>
          <p:cNvPr id="9" name="ПоРукам">
            <a:extLst>
              <a:ext uri="{FF2B5EF4-FFF2-40B4-BE49-F238E27FC236}">
                <a16:creationId xmlns:a16="http://schemas.microsoft.com/office/drawing/2014/main" id="{5E7B2916-A997-46D2-8D7B-39BBAF161BF4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2" name="01">
            <a:extLst>
              <a:ext uri="{FF2B5EF4-FFF2-40B4-BE49-F238E27FC236}">
                <a16:creationId xmlns:a16="http://schemas.microsoft.com/office/drawing/2014/main" id="{DECBC640-A154-435A-BB56-77B768717332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378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мысловой блок 2 64-484">
            <a:extLst>
              <a:ext uri="{FF2B5EF4-FFF2-40B4-BE49-F238E27FC236}">
                <a16:creationId xmlns:a16="http://schemas.microsoft.com/office/drawing/2014/main" id="{E5C918CE-762F-43F7-924D-5FCC538DFFC1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1162050"/>
          </a:xfrm>
          <a:prstGeom prst="roundRect">
            <a:avLst>
              <a:gd name="adj" fmla="val 16393"/>
            </a:avLst>
          </a:prstGeom>
          <a:gradFill>
            <a:gsLst>
              <a:gs pos="0">
                <a:srgbClr val="26301F"/>
              </a:gs>
              <a:gs pos="100000">
                <a:srgbClr val="161F1A"/>
              </a:gs>
            </a:gsLst>
            <a:lin ang="8100000"/>
          </a:gradFill>
          <a:ln w="9525">
            <a:solidFill>
              <a:srgbClr val="4654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Смысловой блок 2 652-190">
            <a:extLst>
              <a:ext uri="{FF2B5EF4-FFF2-40B4-BE49-F238E27FC236}">
                <a16:creationId xmlns:a16="http://schemas.microsoft.com/office/drawing/2014/main" id="{1D493AFA-D892-41DB-9F51-2B58B166AF44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372100" cy="2571750"/>
          </a:xfrm>
          <a:prstGeom prst="roundRect">
            <a:avLst>
              <a:gd name="adj" fmla="val 7407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Смысловой блок 2 64-190">
            <a:extLst>
              <a:ext uri="{FF2B5EF4-FFF2-40B4-BE49-F238E27FC236}">
                <a16:creationId xmlns:a16="http://schemas.microsoft.com/office/drawing/2014/main" id="{74A7FFAE-2DF0-41EE-A95F-F25B58EDC32B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5372100" cy="2571750"/>
          </a:xfrm>
          <a:prstGeom prst="roundRect">
            <a:avLst>
              <a:gd name="adj" fmla="val 7407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Проблема согласования заказа">
            <a:extLst>
              <a:ext uri="{FF2B5EF4-FFF2-40B4-BE49-F238E27FC236}">
                <a16:creationId xmlns:a16="http://schemas.microsoft.com/office/drawing/2014/main" id="{734D1FAD-5B7E-4952-80D2-DAAD8BB81B0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Проблема согласования заказа</a:t>
            </a:r>
          </a:p>
        </p:txBody>
      </p:sp>
      <p:sp>
        <p:nvSpPr>
          <p:cNvPr id="4" name="Покупатель">
            <a:extLst>
              <a:ext uri="{FF2B5EF4-FFF2-40B4-BE49-F238E27FC236}">
                <a16:creationId xmlns:a16="http://schemas.microsoft.com/office/drawing/2014/main" id="{C5C020A2-8B41-4F02-AE46-60F9701EDAC5}"/>
              </a:ext>
            </a:extLst>
          </p:cNvPr>
          <p:cNvSpPr>
            <a:spLocks noGrp="1"/>
          </p:cNvSpPr>
          <p:nvPr/>
        </p:nvSpPr>
        <p:spPr>
          <a:xfrm>
            <a:off x="914400" y="220027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Покупатель</a:t>
            </a:r>
          </a:p>
        </p:txBody>
      </p:sp>
      <p:sp>
        <p:nvSpPr>
          <p:cNvPr id="5" name="Требования в разных файлах&#10;Предложения тру">
            <a:extLst>
              <a:ext uri="{FF2B5EF4-FFF2-40B4-BE49-F238E27FC236}">
                <a16:creationId xmlns:a16="http://schemas.microsoft.com/office/drawing/2014/main" id="{A84C8319-E365-4F3C-91E4-066F19F61C9E}"/>
              </a:ext>
            </a:extLst>
          </p:cNvPr>
          <p:cNvSpPr>
            <a:spLocks noGrp="1"/>
          </p:cNvSpPr>
          <p:nvPr/>
        </p:nvSpPr>
        <p:spPr>
          <a:xfrm>
            <a:off x="914400" y="2886075"/>
            <a:ext cx="476250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Требования в разных файлах</a:t>
            </a:r>
          </a:p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Предложения трудно сравнить</a:t>
            </a:r>
          </a:p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Объём ниже минимальной партии</a:t>
            </a:r>
          </a:p>
        </p:txBody>
      </p:sp>
      <p:sp>
        <p:nvSpPr>
          <p:cNvPr id="6" name="Поставщик">
            <a:extLst>
              <a:ext uri="{FF2B5EF4-FFF2-40B4-BE49-F238E27FC236}">
                <a16:creationId xmlns:a16="http://schemas.microsoft.com/office/drawing/2014/main" id="{E1EE9427-A732-4A38-9A0C-17EAA2B15FC5}"/>
              </a:ext>
            </a:extLst>
          </p:cNvPr>
          <p:cNvSpPr>
            <a:spLocks noGrp="1"/>
          </p:cNvSpPr>
          <p:nvPr/>
        </p:nvSpPr>
        <p:spPr>
          <a:xfrm>
            <a:off x="6515100" y="220027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Поставщик</a:t>
            </a:r>
          </a:p>
        </p:txBody>
      </p:sp>
      <p:sp>
        <p:nvSpPr>
          <p:cNvPr id="7" name="Повторный ввод данных в КП&#10;Ручная сверка р">
            <a:extLst>
              <a:ext uri="{FF2B5EF4-FFF2-40B4-BE49-F238E27FC236}">
                <a16:creationId xmlns:a16="http://schemas.microsoft.com/office/drawing/2014/main" id="{4EA09121-2846-4308-8F4C-26E5CEB44322}"/>
              </a:ext>
            </a:extLst>
          </p:cNvPr>
          <p:cNvSpPr>
            <a:spLocks noGrp="1"/>
          </p:cNvSpPr>
          <p:nvPr/>
        </p:nvSpPr>
        <p:spPr>
          <a:xfrm>
            <a:off x="6515100" y="2886075"/>
            <a:ext cx="476250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Повторный ввод данных в КП</a:t>
            </a:r>
          </a:p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Ручная сверка ресурса и документов</a:t>
            </a:r>
          </a:p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Неподходящие запросы</a:t>
            </a:r>
          </a:p>
        </p:txBody>
      </p:sp>
      <p:sp>
        <p:nvSpPr>
          <p:cNvPr id="8" name="Выполнимый заказ&#10;с понятными условиями">
            <a:extLst>
              <a:ext uri="{FF2B5EF4-FFF2-40B4-BE49-F238E27FC236}">
                <a16:creationId xmlns:a16="http://schemas.microsoft.com/office/drawing/2014/main" id="{0D8EB76C-9485-4EA0-9370-4C343BBC33D3}"/>
              </a:ext>
            </a:extLst>
          </p:cNvPr>
          <p:cNvSpPr>
            <a:spLocks noGrp="1"/>
          </p:cNvSpPr>
          <p:nvPr/>
        </p:nvSpPr>
        <p:spPr>
          <a:xfrm>
            <a:off x="914400" y="4905375"/>
            <a:ext cx="103632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13000"/>
              </a:lnSpc>
              <a:buNone/>
              <a:defRPr sz="25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C7EE85"/>
                </a:solidFill>
                <a:latin typeface="Arial"/>
                <a:ea typeface="Arial"/>
                <a:cs typeface="Arial"/>
              </a:rPr>
              <a:t>Выполнимый</a:t>
            </a:r>
            <a:r>
              <a:rPr sz="2550" b="1" dirty="0">
                <a:solidFill>
                  <a:srgbClr val="C7EE85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C7EE85"/>
                </a:solidFill>
                <a:latin typeface="Arial"/>
                <a:ea typeface="Arial"/>
                <a:cs typeface="Arial"/>
              </a:rPr>
              <a:t>заказ</a:t>
            </a:r>
            <a:r>
              <a:rPr sz="2550" b="1" dirty="0">
                <a:solidFill>
                  <a:srgbClr val="C7EE85"/>
                </a:solidFill>
                <a:latin typeface="Arial"/>
                <a:ea typeface="Arial"/>
                <a:cs typeface="Arial"/>
              </a:rPr>
              <a:t> с </a:t>
            </a:r>
            <a:r>
              <a:rPr sz="2550" b="1" dirty="0" err="1">
                <a:solidFill>
                  <a:srgbClr val="C7EE85"/>
                </a:solidFill>
                <a:latin typeface="Arial"/>
                <a:ea typeface="Arial"/>
                <a:cs typeface="Arial"/>
              </a:rPr>
              <a:t>понятными</a:t>
            </a:r>
            <a:r>
              <a:rPr sz="2550" b="1" dirty="0">
                <a:solidFill>
                  <a:srgbClr val="C7EE85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C7EE85"/>
                </a:solidFill>
                <a:latin typeface="Arial"/>
                <a:ea typeface="Arial"/>
                <a:cs typeface="Arial"/>
              </a:rPr>
              <a:t>условиями</a:t>
            </a:r>
            <a:endParaRPr sz="2550" b="1" dirty="0">
              <a:solidFill>
                <a:srgbClr val="C7EE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Разделитель">
            <a:extLst>
              <a:ext uri="{FF2B5EF4-FFF2-40B4-BE49-F238E27FC236}">
                <a16:creationId xmlns:a16="http://schemas.microsoft.com/office/drawing/2014/main" id="{93468010-7359-440D-9384-1C0A55F58A1D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9FFFAA44-D126-4C00-B19E-3096F37DD3AC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02">
            <a:extLst>
              <a:ext uri="{FF2B5EF4-FFF2-40B4-BE49-F238E27FC236}">
                <a16:creationId xmlns:a16="http://schemas.microsoft.com/office/drawing/2014/main" id="{4DB74BD3-B5F3-4D44-B96D-F6BB2C50B077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206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мысловой блок 3 494-182">
            <a:extLst>
              <a:ext uri="{FF2B5EF4-FFF2-40B4-BE49-F238E27FC236}">
                <a16:creationId xmlns:a16="http://schemas.microsoft.com/office/drawing/2014/main" id="{C646F30E-CC30-4402-9804-636BB130345F}"/>
              </a:ext>
            </a:extLst>
          </p:cNvPr>
          <p:cNvSpPr>
            <a:spLocks noGrp="1"/>
          </p:cNvSpPr>
          <p:nvPr/>
        </p:nvSpPr>
        <p:spPr>
          <a:xfrm>
            <a:off x="4705350" y="1733550"/>
            <a:ext cx="6877050" cy="4038600"/>
          </a:xfrm>
          <a:prstGeom prst="roundRect">
            <a:avLst>
              <a:gd name="adj" fmla="val 4717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Смысловой блок 3 64-182">
            <a:extLst>
              <a:ext uri="{FF2B5EF4-FFF2-40B4-BE49-F238E27FC236}">
                <a16:creationId xmlns:a16="http://schemas.microsoft.com/office/drawing/2014/main" id="{0E277D79-87D5-4259-8173-903A3FC0EFCA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3867150" cy="4038600"/>
          </a:xfrm>
          <a:prstGeom prst="roundRect">
            <a:avLst>
              <a:gd name="adj" fmla="val 4926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Закупка с ИИ">
            <a:extLst>
              <a:ext uri="{FF2B5EF4-FFF2-40B4-BE49-F238E27FC236}">
                <a16:creationId xmlns:a16="http://schemas.microsoft.com/office/drawing/2014/main" id="{05120214-9D9F-45FE-A4FD-4E10CCD109C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Закупка с ИИ</a:t>
            </a:r>
          </a:p>
        </p:txBody>
      </p:sp>
      <p:sp>
        <p:nvSpPr>
          <p:cNvPr id="4" name="Описание и файлы">
            <a:extLst>
              <a:ext uri="{FF2B5EF4-FFF2-40B4-BE49-F238E27FC236}">
                <a16:creationId xmlns:a16="http://schemas.microsoft.com/office/drawing/2014/main" id="{E983DA05-4624-4524-8667-210134E9CE99}"/>
              </a:ext>
            </a:extLst>
          </p:cNvPr>
          <p:cNvSpPr>
            <a:spLocks noGrp="1"/>
          </p:cNvSpPr>
          <p:nvPr/>
        </p:nvSpPr>
        <p:spPr>
          <a:xfrm>
            <a:off x="895350" y="2052638"/>
            <a:ext cx="32956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Описание и файлы</a:t>
            </a:r>
          </a:p>
        </p:txBody>
      </p:sp>
      <p:sp>
        <p:nvSpPr>
          <p:cNvPr id="5" name="ИИ собирает требования&#10;и показывает источн">
            <a:extLst>
              <a:ext uri="{FF2B5EF4-FFF2-40B4-BE49-F238E27FC236}">
                <a16:creationId xmlns:a16="http://schemas.microsoft.com/office/drawing/2014/main" id="{8C986816-C1BE-4BA9-A7B1-A71FE5F55BF2}"/>
              </a:ext>
            </a:extLst>
          </p:cNvPr>
          <p:cNvSpPr>
            <a:spLocks noGrp="1"/>
          </p:cNvSpPr>
          <p:nvPr/>
        </p:nvSpPr>
        <p:spPr>
          <a:xfrm>
            <a:off x="895350" y="2967038"/>
            <a:ext cx="32956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ИИ собирает требования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 показывает источники</a:t>
            </a:r>
          </a:p>
        </p:txBody>
      </p:sp>
      <p:sp>
        <p:nvSpPr>
          <p:cNvPr id="6" name="Покупатель проверяет&#10;карточку перед публик">
            <a:extLst>
              <a:ext uri="{FF2B5EF4-FFF2-40B4-BE49-F238E27FC236}">
                <a16:creationId xmlns:a16="http://schemas.microsoft.com/office/drawing/2014/main" id="{A4E202DD-FDA0-4E18-8C44-A033715A574A}"/>
              </a:ext>
            </a:extLst>
          </p:cNvPr>
          <p:cNvSpPr>
            <a:spLocks noGrp="1"/>
          </p:cNvSpPr>
          <p:nvPr/>
        </p:nvSpPr>
        <p:spPr>
          <a:xfrm>
            <a:off x="895350" y="4338638"/>
            <a:ext cx="32956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7EE85"/>
                </a:solidFill>
                <a:latin typeface="Arial"/>
                <a:ea typeface="Arial"/>
                <a:cs typeface="Arial"/>
              </a:rPr>
              <a:t>Покупатель проверяет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7EE85"/>
                </a:solidFill>
                <a:latin typeface="Arial"/>
                <a:ea typeface="Arial"/>
                <a:cs typeface="Arial"/>
              </a:rPr>
              <a:t>карточку перед публикацией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67AEAB-EB67-40F4-A05E-F767624A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33950" y="1828800"/>
            <a:ext cx="6419850" cy="3862950"/>
          </a:xfrm>
          <a:prstGeom prst="rect">
            <a:avLst/>
          </a:prstGeom>
        </p:spPr>
      </p:pic>
      <p:sp>
        <p:nvSpPr>
          <p:cNvPr id="8" name="Интерфейс на синтетическом сценарии. Ручно">
            <a:extLst>
              <a:ext uri="{FF2B5EF4-FFF2-40B4-BE49-F238E27FC236}">
                <a16:creationId xmlns:a16="http://schemas.microsoft.com/office/drawing/2014/main" id="{6A2BADCB-8F75-4A5A-BE52-BF0035C72A52}"/>
              </a:ext>
            </a:extLst>
          </p:cNvPr>
          <p:cNvSpPr>
            <a:spLocks noGrp="1"/>
          </p:cNvSpPr>
          <p:nvPr/>
        </p:nvSpPr>
        <p:spPr>
          <a:xfrm>
            <a:off x="609600" y="5943601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Ручное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заполнение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доступно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при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отказе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модели</a:t>
            </a:r>
            <a:endParaRPr sz="1313" b="0" dirty="0">
              <a:solidFill>
                <a:srgbClr val="B8B7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Разделитель">
            <a:extLst>
              <a:ext uri="{FF2B5EF4-FFF2-40B4-BE49-F238E27FC236}">
                <a16:creationId xmlns:a16="http://schemas.microsoft.com/office/drawing/2014/main" id="{29525EAB-D86B-43DC-A8FA-2C709574D1D1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E6CADC92-4F7F-42B6-9655-C64AAC5836AE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9445DA75-2F2E-48FA-8A1A-80ECA67864F2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770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Смысловой блок 4 652-396">
            <a:extLst>
              <a:ext uri="{FF2B5EF4-FFF2-40B4-BE49-F238E27FC236}">
                <a16:creationId xmlns:a16="http://schemas.microsoft.com/office/drawing/2014/main" id="{C28471EE-A9AC-4662-B4D8-955848A16006}"/>
              </a:ext>
            </a:extLst>
          </p:cNvPr>
          <p:cNvSpPr>
            <a:spLocks noGrp="1"/>
          </p:cNvSpPr>
          <p:nvPr/>
        </p:nvSpPr>
        <p:spPr>
          <a:xfrm>
            <a:off x="6210300" y="3771900"/>
            <a:ext cx="5372100" cy="1809750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Смысловой блок 4 64-396">
            <a:extLst>
              <a:ext uri="{FF2B5EF4-FFF2-40B4-BE49-F238E27FC236}">
                <a16:creationId xmlns:a16="http://schemas.microsoft.com/office/drawing/2014/main" id="{3A177AA3-E60B-44E3-8BD3-97229984BD0C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5372100" cy="1809750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Смысловой блок 4 652-186">
            <a:extLst>
              <a:ext uri="{FF2B5EF4-FFF2-40B4-BE49-F238E27FC236}">
                <a16:creationId xmlns:a16="http://schemas.microsoft.com/office/drawing/2014/main" id="{F303531A-B8C9-45BC-B11E-C690C3D817F3}"/>
              </a:ext>
            </a:extLst>
          </p:cNvPr>
          <p:cNvSpPr>
            <a:spLocks noGrp="1"/>
          </p:cNvSpPr>
          <p:nvPr/>
        </p:nvSpPr>
        <p:spPr>
          <a:xfrm>
            <a:off x="6210300" y="1771650"/>
            <a:ext cx="5372100" cy="1809750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Смысловой блок 4 64-186">
            <a:extLst>
              <a:ext uri="{FF2B5EF4-FFF2-40B4-BE49-F238E27FC236}">
                <a16:creationId xmlns:a16="http://schemas.microsoft.com/office/drawing/2014/main" id="{8F8C1BC6-5D71-45D8-A7DD-C521D1AD5B92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5372100" cy="1809750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Автоматизация поставщика">
            <a:extLst>
              <a:ext uri="{FF2B5EF4-FFF2-40B4-BE49-F238E27FC236}">
                <a16:creationId xmlns:a16="http://schemas.microsoft.com/office/drawing/2014/main" id="{48906D07-8152-455A-80AB-D587DC56EF0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Автоматизация поставщика</a:t>
            </a:r>
          </a:p>
        </p:txBody>
      </p:sp>
      <p:sp>
        <p:nvSpPr>
          <p:cNvPr id="4" name="Каталог и остатки">
            <a:extLst>
              <a:ext uri="{FF2B5EF4-FFF2-40B4-BE49-F238E27FC236}">
                <a16:creationId xmlns:a16="http://schemas.microsoft.com/office/drawing/2014/main" id="{4FBF7BC3-0576-4C21-9266-C45771B099D4}"/>
              </a:ext>
            </a:extLst>
          </p:cNvPr>
          <p:cNvSpPr>
            <a:spLocks noGrp="1"/>
          </p:cNvSpPr>
          <p:nvPr/>
        </p:nvSpPr>
        <p:spPr>
          <a:xfrm>
            <a:off x="895350" y="1995488"/>
            <a:ext cx="4800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Каталог и остатки</a:t>
            </a:r>
          </a:p>
        </p:txBody>
      </p:sp>
      <p:sp>
        <p:nvSpPr>
          <p:cNvPr id="5" name="Импорт таблиц&#10;и проверка изменений">
            <a:extLst>
              <a:ext uri="{FF2B5EF4-FFF2-40B4-BE49-F238E27FC236}">
                <a16:creationId xmlns:a16="http://schemas.microsoft.com/office/drawing/2014/main" id="{7AE1C2FF-D8FB-4A95-B1AD-F3F2C9C3FE7B}"/>
              </a:ext>
            </a:extLst>
          </p:cNvPr>
          <p:cNvSpPr>
            <a:spLocks noGrp="1"/>
          </p:cNvSpPr>
          <p:nvPr/>
        </p:nvSpPr>
        <p:spPr>
          <a:xfrm>
            <a:off x="895350" y="2576513"/>
            <a:ext cx="4800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Импорт таблиц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 проверка изменений</a:t>
            </a:r>
          </a:p>
        </p:txBody>
      </p:sp>
      <p:sp>
        <p:nvSpPr>
          <p:cNvPr id="6" name="Коммерческие предложения">
            <a:extLst>
              <a:ext uri="{FF2B5EF4-FFF2-40B4-BE49-F238E27FC236}">
                <a16:creationId xmlns:a16="http://schemas.microsoft.com/office/drawing/2014/main" id="{4C3DB56C-090E-475F-B551-A637CD98CCC4}"/>
              </a:ext>
            </a:extLst>
          </p:cNvPr>
          <p:cNvSpPr>
            <a:spLocks noGrp="1"/>
          </p:cNvSpPr>
          <p:nvPr/>
        </p:nvSpPr>
        <p:spPr>
          <a:xfrm>
            <a:off x="6496050" y="1995488"/>
            <a:ext cx="4800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Коммерческие предложения</a:t>
            </a:r>
          </a:p>
        </p:txBody>
      </p:sp>
      <p:sp>
        <p:nvSpPr>
          <p:cNvPr id="7" name="Черновик из запроса,&#10;каталога и ресурса">
            <a:extLst>
              <a:ext uri="{FF2B5EF4-FFF2-40B4-BE49-F238E27FC236}">
                <a16:creationId xmlns:a16="http://schemas.microsoft.com/office/drawing/2014/main" id="{2C1A40F9-8005-4A41-8DB4-F5A6EF46A7C0}"/>
              </a:ext>
            </a:extLst>
          </p:cNvPr>
          <p:cNvSpPr>
            <a:spLocks noGrp="1"/>
          </p:cNvSpPr>
          <p:nvPr/>
        </p:nvSpPr>
        <p:spPr>
          <a:xfrm>
            <a:off x="6496050" y="2576513"/>
            <a:ext cx="4800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Черновик из запроса,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каталога и ресурса</a:t>
            </a:r>
          </a:p>
        </p:txBody>
      </p:sp>
      <p:sp>
        <p:nvSpPr>
          <p:cNvPr id="8" name="Документы и допуск">
            <a:extLst>
              <a:ext uri="{FF2B5EF4-FFF2-40B4-BE49-F238E27FC236}">
                <a16:creationId xmlns:a16="http://schemas.microsoft.com/office/drawing/2014/main" id="{454A8C77-D1E5-4CF9-91D5-AB409BC90D37}"/>
              </a:ext>
            </a:extLst>
          </p:cNvPr>
          <p:cNvSpPr>
            <a:spLocks noGrp="1"/>
          </p:cNvSpPr>
          <p:nvPr/>
        </p:nvSpPr>
        <p:spPr>
          <a:xfrm>
            <a:off x="895350" y="3995738"/>
            <a:ext cx="4800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Документы и допуск</a:t>
            </a:r>
          </a:p>
        </p:txBody>
      </p:sp>
      <p:sp>
        <p:nvSpPr>
          <p:cNvPr id="9" name="Проверка требований&#10;конкретного изделия">
            <a:extLst>
              <a:ext uri="{FF2B5EF4-FFF2-40B4-BE49-F238E27FC236}">
                <a16:creationId xmlns:a16="http://schemas.microsoft.com/office/drawing/2014/main" id="{9D134BA2-E2CB-4886-8D90-4A23CF5A6BC7}"/>
              </a:ext>
            </a:extLst>
          </p:cNvPr>
          <p:cNvSpPr>
            <a:spLocks noGrp="1"/>
          </p:cNvSpPr>
          <p:nvPr/>
        </p:nvSpPr>
        <p:spPr>
          <a:xfrm>
            <a:off x="895350" y="4576763"/>
            <a:ext cx="4800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Проверка требований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конкретного изделия</a:t>
            </a:r>
          </a:p>
        </p:txBody>
      </p:sp>
      <p:sp>
        <p:nvSpPr>
          <p:cNvPr id="10" name="Исполнение и отчёт">
            <a:extLst>
              <a:ext uri="{FF2B5EF4-FFF2-40B4-BE49-F238E27FC236}">
                <a16:creationId xmlns:a16="http://schemas.microsoft.com/office/drawing/2014/main" id="{E413302F-1AE8-43FC-B0F2-85299234D364}"/>
              </a:ext>
            </a:extLst>
          </p:cNvPr>
          <p:cNvSpPr>
            <a:spLocks noGrp="1"/>
          </p:cNvSpPr>
          <p:nvPr/>
        </p:nvSpPr>
        <p:spPr>
          <a:xfrm>
            <a:off x="6496050" y="3995738"/>
            <a:ext cx="4800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Исполнение и отчёт</a:t>
            </a:r>
          </a:p>
        </p:txBody>
      </p:sp>
      <p:sp>
        <p:nvSpPr>
          <p:cNvPr id="11" name="Отгрузка, приёмка&#10;и известные затраты">
            <a:extLst>
              <a:ext uri="{FF2B5EF4-FFF2-40B4-BE49-F238E27FC236}">
                <a16:creationId xmlns:a16="http://schemas.microsoft.com/office/drawing/2014/main" id="{D590F1F4-211C-409B-8C6D-F883B1574F7E}"/>
              </a:ext>
            </a:extLst>
          </p:cNvPr>
          <p:cNvSpPr>
            <a:spLocks noGrp="1"/>
          </p:cNvSpPr>
          <p:nvPr/>
        </p:nvSpPr>
        <p:spPr>
          <a:xfrm>
            <a:off x="6496050" y="4576763"/>
            <a:ext cx="4800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Отгрузка, приёмка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 известные затраты</a:t>
            </a:r>
          </a:p>
        </p:txBody>
      </p:sp>
      <p:sp>
        <p:nvSpPr>
          <p:cNvPr id="12" name="Поставщик подтверждает условия, которые со">
            <a:extLst>
              <a:ext uri="{FF2B5EF4-FFF2-40B4-BE49-F238E27FC236}">
                <a16:creationId xmlns:a16="http://schemas.microsoft.com/office/drawing/2014/main" id="{AEF23859-2508-440B-BAE9-90970634493A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Поставщик подтверждает условия, которые создают обязательства.</a:t>
            </a:r>
          </a:p>
        </p:txBody>
      </p:sp>
      <p:sp>
        <p:nvSpPr>
          <p:cNvPr id="14" name="Разделитель">
            <a:extLst>
              <a:ext uri="{FF2B5EF4-FFF2-40B4-BE49-F238E27FC236}">
                <a16:creationId xmlns:a16="http://schemas.microsoft.com/office/drawing/2014/main" id="{C62B8D7C-C4F7-4084-83FF-7E4DCD2CE775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01D7290C-FC6A-4BFA-BEEE-A90F16FDAF1C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0B22227D-4084-4010-81A8-DF1B472E745A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4034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7675224-FBBE-40A2-8CEE-D0A416393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5" name="Смысловой блок 5 636-470">
            <a:extLst>
              <a:ext uri="{FF2B5EF4-FFF2-40B4-BE49-F238E27FC236}">
                <a16:creationId xmlns:a16="http://schemas.microsoft.com/office/drawing/2014/main" id="{2246043C-7882-4D32-8965-7D01A2B0673A}"/>
              </a:ext>
            </a:extLst>
          </p:cNvPr>
          <p:cNvSpPr>
            <a:spLocks noGrp="1"/>
          </p:cNvSpPr>
          <p:nvPr/>
        </p:nvSpPr>
        <p:spPr>
          <a:xfrm>
            <a:off x="6057900" y="4476750"/>
            <a:ext cx="5524500" cy="1371600"/>
          </a:xfrm>
          <a:prstGeom prst="roundRect">
            <a:avLst>
              <a:gd name="adj" fmla="val 13889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Смысловой блок 5 64-470">
            <a:extLst>
              <a:ext uri="{FF2B5EF4-FFF2-40B4-BE49-F238E27FC236}">
                <a16:creationId xmlns:a16="http://schemas.microsoft.com/office/drawing/2014/main" id="{F4A10FF6-D339-4063-91B6-D47673AEBBFF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219700" cy="1371600"/>
          </a:xfrm>
          <a:prstGeom prst="roundRect">
            <a:avLst>
              <a:gd name="adj" fmla="val 13889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Смысловой блок 5 64-162">
            <a:extLst>
              <a:ext uri="{FF2B5EF4-FFF2-40B4-BE49-F238E27FC236}">
                <a16:creationId xmlns:a16="http://schemas.microsoft.com/office/drawing/2014/main" id="{D061C0BF-0D0A-40FB-BCC7-92008AB15DD3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10972800" cy="647700"/>
          </a:xfrm>
          <a:prstGeom prst="roundRect">
            <a:avLst>
              <a:gd name="adj" fmla="val 29412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Среда взаимодействия ИИ-агентов">
            <a:extLst>
              <a:ext uri="{FF2B5EF4-FFF2-40B4-BE49-F238E27FC236}">
                <a16:creationId xmlns:a16="http://schemas.microsoft.com/office/drawing/2014/main" id="{0BE2F3E3-8DBC-41EA-BA2C-6160A80E641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Среда взаимодействия ИИ-агентов</a:t>
            </a:r>
          </a:p>
        </p:txBody>
      </p:sp>
      <p:sp>
        <p:nvSpPr>
          <p:cNvPr id="3" name="Общая задача и версия данных">
            <a:extLst>
              <a:ext uri="{FF2B5EF4-FFF2-40B4-BE49-F238E27FC236}">
                <a16:creationId xmlns:a16="http://schemas.microsoft.com/office/drawing/2014/main" id="{F93A2E54-E5DC-4E7A-93ED-E601F1F72261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10515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0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2025" b="1" dirty="0" err="1">
                <a:solidFill>
                  <a:srgbClr val="C7EE85"/>
                </a:solidFill>
                <a:latin typeface="Arial"/>
                <a:ea typeface="Arial"/>
                <a:cs typeface="Arial"/>
              </a:rPr>
              <a:t>Общая</a:t>
            </a:r>
            <a:r>
              <a:rPr sz="2025" b="1" dirty="0">
                <a:solidFill>
                  <a:srgbClr val="C7EE85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C7EE85"/>
                </a:solidFill>
                <a:latin typeface="Arial"/>
                <a:ea typeface="Arial"/>
                <a:cs typeface="Arial"/>
              </a:rPr>
              <a:t>задача</a:t>
            </a:r>
            <a:r>
              <a:rPr sz="2025" b="1" dirty="0">
                <a:solidFill>
                  <a:srgbClr val="C7EE85"/>
                </a:solidFill>
                <a:latin typeface="Arial"/>
                <a:ea typeface="Arial"/>
                <a:cs typeface="Arial"/>
              </a:rPr>
              <a:t> и </a:t>
            </a:r>
            <a:r>
              <a:rPr sz="2025" b="1" dirty="0" err="1">
                <a:solidFill>
                  <a:srgbClr val="C7EE85"/>
                </a:solidFill>
                <a:latin typeface="Arial"/>
                <a:ea typeface="Arial"/>
                <a:cs typeface="Arial"/>
              </a:rPr>
              <a:t>версия</a:t>
            </a:r>
            <a:r>
              <a:rPr sz="2025" b="1" dirty="0">
                <a:solidFill>
                  <a:srgbClr val="C7EE85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C7EE85"/>
                </a:solidFill>
                <a:latin typeface="Arial"/>
                <a:ea typeface="Arial"/>
                <a:cs typeface="Arial"/>
              </a:rPr>
              <a:t>данных</a:t>
            </a:r>
            <a:endParaRPr sz="2025" b="1" dirty="0">
              <a:solidFill>
                <a:srgbClr val="C7EE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Агент покупателя">
            <a:extLst>
              <a:ext uri="{FF2B5EF4-FFF2-40B4-BE49-F238E27FC236}">
                <a16:creationId xmlns:a16="http://schemas.microsoft.com/office/drawing/2014/main" id="{F20064D6-4601-4EBA-83C3-E2ECCDFC3E26}"/>
              </a:ext>
            </a:extLst>
          </p:cNvPr>
          <p:cNvSpPr>
            <a:spLocks noGrp="1"/>
          </p:cNvSpPr>
          <p:nvPr/>
        </p:nvSpPr>
        <p:spPr>
          <a:xfrm>
            <a:off x="895350" y="4562475"/>
            <a:ext cx="4648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Агент покупателя</a:t>
            </a:r>
          </a:p>
        </p:txBody>
      </p:sp>
      <p:sp>
        <p:nvSpPr>
          <p:cNvPr id="5" name="Требования, источники&#10;и уточнения">
            <a:extLst>
              <a:ext uri="{FF2B5EF4-FFF2-40B4-BE49-F238E27FC236}">
                <a16:creationId xmlns:a16="http://schemas.microsoft.com/office/drawing/2014/main" id="{D59DE536-3EBD-406C-B180-49A3AD783D07}"/>
              </a:ext>
            </a:extLst>
          </p:cNvPr>
          <p:cNvSpPr>
            <a:spLocks noGrp="1"/>
          </p:cNvSpPr>
          <p:nvPr/>
        </p:nvSpPr>
        <p:spPr>
          <a:xfrm>
            <a:off x="895350" y="5019675"/>
            <a:ext cx="4648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Требования, источники</a:t>
            </a:r>
          </a:p>
          <a:p>
            <a:pPr algn="l">
              <a:lnSpc>
                <a:spcPct val="113000"/>
              </a:lnSpc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 уточнения</a:t>
            </a:r>
          </a:p>
        </p:txBody>
      </p:sp>
      <p:sp>
        <p:nvSpPr>
          <p:cNvPr id="6" name="Агент поставщика">
            <a:extLst>
              <a:ext uri="{FF2B5EF4-FFF2-40B4-BE49-F238E27FC236}">
                <a16:creationId xmlns:a16="http://schemas.microsoft.com/office/drawing/2014/main" id="{31A89541-AE97-4169-AC44-C49B9E44AE87}"/>
              </a:ext>
            </a:extLst>
          </p:cNvPr>
          <p:cNvSpPr>
            <a:spLocks noGrp="1"/>
          </p:cNvSpPr>
          <p:nvPr/>
        </p:nvSpPr>
        <p:spPr>
          <a:xfrm>
            <a:off x="6343650" y="4567238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0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Агент поставщика</a:t>
            </a:r>
          </a:p>
        </p:txBody>
      </p:sp>
      <p:sp>
        <p:nvSpPr>
          <p:cNvPr id="7" name="Черновик предложения&#10;и проверка совместимо">
            <a:extLst>
              <a:ext uri="{FF2B5EF4-FFF2-40B4-BE49-F238E27FC236}">
                <a16:creationId xmlns:a16="http://schemas.microsoft.com/office/drawing/2014/main" id="{F6812DA7-051E-4D70-B34D-FE730796EA65}"/>
              </a:ext>
            </a:extLst>
          </p:cNvPr>
          <p:cNvSpPr>
            <a:spLocks noGrp="1"/>
          </p:cNvSpPr>
          <p:nvPr/>
        </p:nvSpPr>
        <p:spPr>
          <a:xfrm>
            <a:off x="6343650" y="5024438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Черновик предложения</a:t>
            </a:r>
          </a:p>
          <a:p>
            <a:pPr algn="l">
              <a:lnSpc>
                <a:spcPct val="113000"/>
              </a:lnSpc>
              <a:buNone/>
              <a:defRPr sz="183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838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 проверка совместимости</a:t>
            </a:r>
          </a:p>
        </p:txBody>
      </p:sp>
      <p:sp>
        <p:nvSpPr>
          <p:cNvPr id="8" name="Маршрутизация по роли и состоянию. Передач">
            <a:extLst>
              <a:ext uri="{FF2B5EF4-FFF2-40B4-BE49-F238E27FC236}">
                <a16:creationId xmlns:a16="http://schemas.microsoft.com/office/drawing/2014/main" id="{51B0BFBC-AB19-4494-A3AE-3EFFD18315BB}"/>
              </a:ext>
            </a:extLst>
          </p:cNvPr>
          <p:cNvSpPr>
            <a:spLocks noGrp="1"/>
          </p:cNvSpPr>
          <p:nvPr/>
        </p:nvSpPr>
        <p:spPr>
          <a:xfrm>
            <a:off x="609600" y="6005512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Маршрутизация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по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роли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и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состоянию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.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Передача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результата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после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проверки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Разделитель">
            <a:extLst>
              <a:ext uri="{FF2B5EF4-FFF2-40B4-BE49-F238E27FC236}">
                <a16:creationId xmlns:a16="http://schemas.microsoft.com/office/drawing/2014/main" id="{770414A1-2044-4BFE-9AC8-5BF61B4693C4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ПоРукам">
            <a:extLst>
              <a:ext uri="{FF2B5EF4-FFF2-40B4-BE49-F238E27FC236}">
                <a16:creationId xmlns:a16="http://schemas.microsoft.com/office/drawing/2014/main" id="{ADDFAC47-680D-4FFC-BF1A-C060DFA00E11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10" name="05">
            <a:extLst>
              <a:ext uri="{FF2B5EF4-FFF2-40B4-BE49-F238E27FC236}">
                <a16:creationId xmlns:a16="http://schemas.microsoft.com/office/drawing/2014/main" id="{1F4A62E3-349B-4DDD-8FEA-058F3BD1059C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736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мысловой блок 6 64-182">
            <a:extLst>
              <a:ext uri="{FF2B5EF4-FFF2-40B4-BE49-F238E27FC236}">
                <a16:creationId xmlns:a16="http://schemas.microsoft.com/office/drawing/2014/main" id="{B60D5145-E29B-473B-B79A-55C461489E78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3962400"/>
          </a:xfrm>
          <a:prstGeom prst="roundRect">
            <a:avLst>
              <a:gd name="adj" fmla="val 4808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Архитектура платформы">
            <a:extLst>
              <a:ext uri="{FF2B5EF4-FFF2-40B4-BE49-F238E27FC236}">
                <a16:creationId xmlns:a16="http://schemas.microsoft.com/office/drawing/2014/main" id="{AAAC66E4-FD34-472E-8B56-62E7FD06EE9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Архитектура платформы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D618A9D-B0DB-4EB1-AEFB-F2702F579ADA}"/>
              </a:ext>
            </a:extLst>
          </p:cNvPr>
          <p:cNvGraphicFramePr/>
          <p:nvPr/>
        </p:nvGraphicFramePr>
        <p:xfrm>
          <a:off x="762000" y="1885950"/>
          <a:ext cx="10668000" cy="3619500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BA9AFF"/>
                          </a:solidFill>
                          <a:latin typeface="Arial"/>
                          <a:ea typeface="Arial"/>
                          <a:cs typeface="Arial"/>
                        </a:rPr>
                        <a:t>Контур</a:t>
                      </a:r>
                    </a:p>
                  </a:txBody>
                  <a:tcPr anchor="ctr">
                    <a:lnL w="6191">
                      <a:solidFill>
                        <a:srgbClr val="343345"/>
                      </a:solidFill>
                      <a:prstDash val="soli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>
                      <a:solidFill>
                        <a:srgbClr val="343345"/>
                      </a:solidFill>
                      <a:prstDash val="soli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2B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BA9A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Компоненты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>
                      <a:solidFill>
                        <a:srgbClr val="343345"/>
                      </a:solidFill>
                      <a:prstDash val="soli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2B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BA9AFF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>
                      <a:solidFill>
                        <a:srgbClr val="343345"/>
                      </a:solidFill>
                      <a:prstDash val="soli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2B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5F3FC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</a:t>
                      </a:r>
                    </a:p>
                  </a:txBody>
                  <a:tcPr anchor="ctr">
                    <a:lnL w="6191">
                      <a:solidFill>
                        <a:srgbClr val="343345"/>
                      </a:solidFill>
                      <a:prstDash val="soli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71A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B8B7C9"/>
                          </a:solidFill>
                          <a:latin typeface="Arial"/>
                          <a:ea typeface="Arial"/>
                          <a:cs typeface="Arial"/>
                        </a:rPr>
                        <a:t>Next.js и React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71A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5F3FC"/>
                          </a:solidFill>
                          <a:latin typeface="Arial"/>
                          <a:ea typeface="Arial"/>
                          <a:cs typeface="Arial"/>
                        </a:rPr>
                        <a:t>Кабинеты, каталог, запросы и согласования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7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5F3FC"/>
                          </a:solidFill>
                          <a:latin typeface="Arial"/>
                          <a:ea typeface="Arial"/>
                          <a:cs typeface="Arial"/>
                        </a:rPr>
                        <a:t>Операции</a:t>
                      </a:r>
                    </a:p>
                  </a:txBody>
                  <a:tcPr anchor="ctr">
                    <a:lnL w="6191">
                      <a:solidFill>
                        <a:srgbClr val="343345"/>
                      </a:solidFill>
                      <a:prstDash val="soli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C1D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B8B7C9"/>
                          </a:solidFill>
                          <a:latin typeface="Arial"/>
                          <a:ea typeface="Arial"/>
                          <a:cs typeface="Arial"/>
                        </a:rPr>
                        <a:t>Авторизация и маркетплейс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C1D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5F3FC"/>
                          </a:solidFill>
                          <a:latin typeface="Arial"/>
                          <a:ea typeface="Arial"/>
                          <a:cs typeface="Arial"/>
                        </a:rPr>
                        <a:t>Роли, компании, сметы и исполнение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C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5F3FC"/>
                          </a:solidFill>
                          <a:latin typeface="Arial"/>
                          <a:ea typeface="Arial"/>
                          <a:cs typeface="Arial"/>
                        </a:rPr>
                        <a:t>ИИ</a:t>
                      </a:r>
                    </a:p>
                  </a:txBody>
                  <a:tcPr anchor="ctr">
                    <a:lnL w="6191">
                      <a:solidFill>
                        <a:srgbClr val="343345"/>
                      </a:solidFill>
                      <a:prstDash val="soli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71A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B8B7C9"/>
                          </a:solidFill>
                          <a:latin typeface="Arial"/>
                          <a:ea typeface="Arial"/>
                          <a:cs typeface="Arial"/>
                        </a:rPr>
                        <a:t>LLM Gateway и локальная Qwen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71A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5F3FC"/>
                          </a:solidFill>
                          <a:latin typeface="Arial"/>
                          <a:ea typeface="Arial"/>
                          <a:cs typeface="Arial"/>
                        </a:rPr>
                        <a:t>Материалы, извлечение и объяснения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7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5F3FC"/>
                          </a:solidFill>
                          <a:latin typeface="Arial"/>
                          <a:ea typeface="Arial"/>
                          <a:cs typeface="Arial"/>
                        </a:rPr>
                        <a:t>Расчёты</a:t>
                      </a:r>
                    </a:p>
                  </a:txBody>
                  <a:tcPr anchor="ctr">
                    <a:lnL w="6191">
                      <a:solidFill>
                        <a:srgbClr val="343345"/>
                      </a:solidFill>
                      <a:prstDash val="soli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C1D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B8B7C9"/>
                          </a:solidFill>
                          <a:latin typeface="Arial"/>
                          <a:ea typeface="Arial"/>
                          <a:cs typeface="Arial"/>
                        </a:rPr>
                        <a:t>OR-Tools и обычный код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C1D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5F3FC"/>
                          </a:solidFill>
                          <a:latin typeface="Arial"/>
                          <a:ea typeface="Arial"/>
                          <a:cs typeface="Arial"/>
                        </a:rPr>
                        <a:t>Деньги, объёмы и варианты резерва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C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5F3FC"/>
                          </a:solidFill>
                          <a:latin typeface="Arial"/>
                          <a:ea typeface="Arial"/>
                          <a:cs typeface="Arial"/>
                        </a:rPr>
                        <a:t>Хранение</a:t>
                      </a:r>
                    </a:p>
                  </a:txBody>
                  <a:tcPr anchor="ctr">
                    <a:lnL w="6191">
                      <a:solidFill>
                        <a:srgbClr val="343345"/>
                      </a:solidFill>
                      <a:prstDash val="soli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71A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B8B7C9"/>
                          </a:solidFill>
                          <a:latin typeface="Arial"/>
                          <a:ea typeface="Arial"/>
                          <a:cs typeface="Arial"/>
                        </a:rPr>
                        <a:t>PostgreSQL и файлы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71A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F5F3FC"/>
                          </a:solidFill>
                          <a:latin typeface="Arial"/>
                          <a:ea typeface="Arial"/>
                          <a:cs typeface="Arial"/>
                        </a:rPr>
                        <a:t>Версии, источники и аудит</a:t>
                      </a:r>
                    </a:p>
                  </a:txBody>
                  <a:tcPr anchor="ctr">
                    <a:lnL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343345"/>
                      </a:solidFill>
                      <a:prstDash val="solid"/>
                    </a:lnR>
                    <a:lnT w="6191" cap="flat" cmpd="sng" algn="ctr">
                      <a:solidFill>
                        <a:srgbClr val="3433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343345"/>
                      </a:solidFill>
                      <a:prstDash val="solid"/>
                    </a:lnB>
                    <a:solidFill>
                      <a:srgbClr val="17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Версионированные API. Сервис проверяет пол">
            <a:extLst>
              <a:ext uri="{FF2B5EF4-FFF2-40B4-BE49-F238E27FC236}">
                <a16:creationId xmlns:a16="http://schemas.microsoft.com/office/drawing/2014/main" id="{6D02AA25-59A3-43A3-AB6D-931314DC495B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Версионированные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API.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Сервис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проверяет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полномочия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и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актуальность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условий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при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каждом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действии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Разделитель">
            <a:extLst>
              <a:ext uri="{FF2B5EF4-FFF2-40B4-BE49-F238E27FC236}">
                <a16:creationId xmlns:a16="http://schemas.microsoft.com/office/drawing/2014/main" id="{BEF1AE81-F42C-47F5-9E38-A6CAC5A9ABF5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D79ED06D-7D6B-4221-9D72-7D2D399B913F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06">
            <a:extLst>
              <a:ext uri="{FF2B5EF4-FFF2-40B4-BE49-F238E27FC236}">
                <a16:creationId xmlns:a16="http://schemas.microsoft.com/office/drawing/2014/main" id="{4FC76164-1649-4D1E-BDAB-DA49466B2CCF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534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мысловой блок 8 832-186">
            <a:extLst>
              <a:ext uri="{FF2B5EF4-FFF2-40B4-BE49-F238E27FC236}">
                <a16:creationId xmlns:a16="http://schemas.microsoft.com/office/drawing/2014/main" id="{EB74991C-BC7C-41A4-9256-C0832A4D9657}"/>
              </a:ext>
            </a:extLst>
          </p:cNvPr>
          <p:cNvSpPr>
            <a:spLocks noGrp="1"/>
          </p:cNvSpPr>
          <p:nvPr/>
        </p:nvSpPr>
        <p:spPr>
          <a:xfrm>
            <a:off x="7924800" y="1771650"/>
            <a:ext cx="3657600" cy="3886200"/>
          </a:xfrm>
          <a:prstGeom prst="roundRect">
            <a:avLst>
              <a:gd name="adj" fmla="val 5208"/>
            </a:avLst>
          </a:prstGeom>
          <a:gradFill>
            <a:gsLst>
              <a:gs pos="0">
                <a:srgbClr val="26301F"/>
              </a:gs>
              <a:gs pos="100000">
                <a:srgbClr val="161F1A"/>
              </a:gs>
            </a:gsLst>
            <a:lin ang="8100000"/>
          </a:gradFill>
          <a:ln w="9525">
            <a:solidFill>
              <a:srgbClr val="4654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Смысловой блок 8 64-186">
            <a:extLst>
              <a:ext uri="{FF2B5EF4-FFF2-40B4-BE49-F238E27FC236}">
                <a16:creationId xmlns:a16="http://schemas.microsoft.com/office/drawing/2014/main" id="{CE4354D6-9231-44F1-95C9-2D429E9D4FCC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7086600" cy="3886200"/>
          </a:xfrm>
          <a:prstGeom prst="roundRect">
            <a:avLst>
              <a:gd name="adj" fmla="val 4902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Полная стоимость совместной партии">
            <a:extLst>
              <a:ext uri="{FF2B5EF4-FFF2-40B4-BE49-F238E27FC236}">
                <a16:creationId xmlns:a16="http://schemas.microsoft.com/office/drawing/2014/main" id="{9E420C3E-A672-40CA-8F6B-B2E68DF1B09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Полная стоимость совместной партии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CF26C8AB-C47B-49F9-A937-04C63937B2C7}"/>
              </a:ext>
            </a:extLst>
          </p:cNvPr>
          <p:cNvGraphicFramePr/>
          <p:nvPr/>
        </p:nvGraphicFramePr>
        <p:xfrm>
          <a:off x="781050" y="1971675"/>
          <a:ext cx="6743700" cy="348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44 500 ₽">
            <a:extLst>
              <a:ext uri="{FF2B5EF4-FFF2-40B4-BE49-F238E27FC236}">
                <a16:creationId xmlns:a16="http://schemas.microsoft.com/office/drawing/2014/main" id="{793A367D-25CD-4E8B-A62D-85A107D4AA7D}"/>
              </a:ext>
            </a:extLst>
          </p:cNvPr>
          <p:cNvSpPr>
            <a:spLocks noGrp="1"/>
          </p:cNvSpPr>
          <p:nvPr/>
        </p:nvSpPr>
        <p:spPr>
          <a:xfrm>
            <a:off x="8210550" y="2066925"/>
            <a:ext cx="30861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41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C7EE85"/>
                </a:solidFill>
                <a:latin typeface="Arial"/>
                <a:ea typeface="Arial"/>
                <a:cs typeface="Arial"/>
              </a:rPr>
              <a:t>44 500 ₽</a:t>
            </a:r>
          </a:p>
        </p:txBody>
      </p:sp>
      <p:sp>
        <p:nvSpPr>
          <p:cNvPr id="6" name="разница в примере">
            <a:extLst>
              <a:ext uri="{FF2B5EF4-FFF2-40B4-BE49-F238E27FC236}">
                <a16:creationId xmlns:a16="http://schemas.microsoft.com/office/drawing/2014/main" id="{5F2DA55A-43FD-458B-89B3-1AEA95F97F9F}"/>
              </a:ext>
            </a:extLst>
          </p:cNvPr>
          <p:cNvSpPr>
            <a:spLocks noGrp="1"/>
          </p:cNvSpPr>
          <p:nvPr/>
        </p:nvSpPr>
        <p:spPr>
          <a:xfrm>
            <a:off x="8210550" y="29432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разница в примере</a:t>
            </a:r>
          </a:p>
        </p:txBody>
      </p:sp>
      <p:sp>
        <p:nvSpPr>
          <p:cNvPr id="7" name="Система учитывает&#10;доставку, налоги&#10;и расхо">
            <a:extLst>
              <a:ext uri="{FF2B5EF4-FFF2-40B4-BE49-F238E27FC236}">
                <a16:creationId xmlns:a16="http://schemas.microsoft.com/office/drawing/2014/main" id="{AA22C068-64EA-4FE6-A75F-257E38434D8C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861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Система учитывает</a:t>
            </a:r>
          </a:p>
          <a:p>
            <a:pPr algn="l">
              <a:lnSpc>
                <a:spcPct val="113000"/>
              </a:lnSpc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доставку, налоги</a:t>
            </a:r>
          </a:p>
          <a:p>
            <a:pPr algn="l">
              <a:lnSpc>
                <a:spcPct val="113000"/>
              </a:lnSpc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и расходы</a:t>
            </a:r>
          </a:p>
          <a:p>
            <a:pPr algn="l">
              <a:lnSpc>
                <a:spcPct val="113000"/>
              </a:lnSpc>
              <a:buNone/>
              <a:defRPr sz="18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производителя</a:t>
            </a:r>
          </a:p>
        </p:txBody>
      </p:sp>
      <p:sp>
        <p:nvSpPr>
          <p:cNvPr id="8" name="Расчётный пример. Экономия требует сопоста">
            <a:extLst>
              <a:ext uri="{FF2B5EF4-FFF2-40B4-BE49-F238E27FC236}">
                <a16:creationId xmlns:a16="http://schemas.microsoft.com/office/drawing/2014/main" id="{B13A5566-BE36-4260-9E12-44948921C6D8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Расчётный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пример</a:t>
            </a:r>
            <a:endParaRPr sz="1313" b="0" dirty="0">
              <a:solidFill>
                <a:srgbClr val="B8B7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Разделитель">
            <a:extLst>
              <a:ext uri="{FF2B5EF4-FFF2-40B4-BE49-F238E27FC236}">
                <a16:creationId xmlns:a16="http://schemas.microsoft.com/office/drawing/2014/main" id="{D6BCC53E-2984-42F6-B530-0943FD1DDE18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758E5177-5C80-48F0-B648-4B982E7FB2D3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08">
            <a:extLst>
              <a:ext uri="{FF2B5EF4-FFF2-40B4-BE49-F238E27FC236}">
                <a16:creationId xmlns:a16="http://schemas.microsoft.com/office/drawing/2014/main" id="{A9E40A73-E3F0-4112-80DB-AD99F3DAA983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535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мысловой блок 9 64-462">
            <a:extLst>
              <a:ext uri="{FF2B5EF4-FFF2-40B4-BE49-F238E27FC236}">
                <a16:creationId xmlns:a16="http://schemas.microsoft.com/office/drawing/2014/main" id="{40511C3A-39F5-4AE8-83EC-B04109835B75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10972800" cy="1276350"/>
          </a:xfrm>
          <a:prstGeom prst="roundRect">
            <a:avLst>
              <a:gd name="adj" fmla="val 14925"/>
            </a:avLst>
          </a:prstGeom>
          <a:gradFill>
            <a:gsLst>
              <a:gs pos="0">
                <a:srgbClr val="26301F"/>
              </a:gs>
              <a:gs pos="100000">
                <a:srgbClr val="161F1A"/>
              </a:gs>
            </a:gsLst>
            <a:lin ang="8100000"/>
          </a:gradFill>
          <a:ln w="9525">
            <a:solidFill>
              <a:srgbClr val="4654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Смысловой блок 9 652-186">
            <a:extLst>
              <a:ext uri="{FF2B5EF4-FFF2-40B4-BE49-F238E27FC236}">
                <a16:creationId xmlns:a16="http://schemas.microsoft.com/office/drawing/2014/main" id="{58FC5D10-6238-49FC-826A-CE6FCFE2586E}"/>
              </a:ext>
            </a:extLst>
          </p:cNvPr>
          <p:cNvSpPr>
            <a:spLocks noGrp="1"/>
          </p:cNvSpPr>
          <p:nvPr/>
        </p:nvSpPr>
        <p:spPr>
          <a:xfrm>
            <a:off x="6210300" y="1771650"/>
            <a:ext cx="5372100" cy="2400300"/>
          </a:xfrm>
          <a:prstGeom prst="roundRect">
            <a:avLst>
              <a:gd name="adj" fmla="val 7937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Смысловой блок 9 64-186">
            <a:extLst>
              <a:ext uri="{FF2B5EF4-FFF2-40B4-BE49-F238E27FC236}">
                <a16:creationId xmlns:a16="http://schemas.microsoft.com/office/drawing/2014/main" id="{6C03A32C-885A-4C4F-A8C8-1A64C692A659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5372100" cy="2400300"/>
          </a:xfrm>
          <a:prstGeom prst="roundRect">
            <a:avLst>
              <a:gd name="adj" fmla="val 7937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Устойчивость поставки">
            <a:extLst>
              <a:ext uri="{FF2B5EF4-FFF2-40B4-BE49-F238E27FC236}">
                <a16:creationId xmlns:a16="http://schemas.microsoft.com/office/drawing/2014/main" id="{1440F16B-808E-44A9-8483-1021C22EEDA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Устойчивость поставки</a:t>
            </a:r>
          </a:p>
        </p:txBody>
      </p:sp>
      <p:sp>
        <p:nvSpPr>
          <p:cNvPr id="4" name="Сценарии N-1 и N-2">
            <a:extLst>
              <a:ext uri="{FF2B5EF4-FFF2-40B4-BE49-F238E27FC236}">
                <a16:creationId xmlns:a16="http://schemas.microsoft.com/office/drawing/2014/main" id="{51CDABB4-AAEB-4747-8ED3-A297A6BEBEAA}"/>
              </a:ext>
            </a:extLst>
          </p:cNvPr>
          <p:cNvSpPr>
            <a:spLocks noGrp="1"/>
          </p:cNvSpPr>
          <p:nvPr/>
        </p:nvSpPr>
        <p:spPr>
          <a:xfrm>
            <a:off x="914400" y="2243138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Сценарии N-1 и N-2</a:t>
            </a:r>
          </a:p>
        </p:txBody>
      </p:sp>
      <p:sp>
        <p:nvSpPr>
          <p:cNvPr id="5" name="Код проверяет оставшийся объём,&#10;сроки и до">
            <a:extLst>
              <a:ext uri="{FF2B5EF4-FFF2-40B4-BE49-F238E27FC236}">
                <a16:creationId xmlns:a16="http://schemas.microsoft.com/office/drawing/2014/main" id="{77F6D786-3638-4C9F-B9B3-122BBD16A45F}"/>
              </a:ext>
            </a:extLst>
          </p:cNvPr>
          <p:cNvSpPr>
            <a:spLocks noGrp="1"/>
          </p:cNvSpPr>
          <p:nvPr/>
        </p:nvSpPr>
        <p:spPr>
          <a:xfrm>
            <a:off x="914400" y="2909888"/>
            <a:ext cx="47625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Код проверяет оставшийся объём,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сроки и допустимые альтернативы.</a:t>
            </a:r>
          </a:p>
        </p:txBody>
      </p:sp>
      <p:sp>
        <p:nvSpPr>
          <p:cNvPr id="6" name="Подтверждённый резерв">
            <a:extLst>
              <a:ext uri="{FF2B5EF4-FFF2-40B4-BE49-F238E27FC236}">
                <a16:creationId xmlns:a16="http://schemas.microsoft.com/office/drawing/2014/main" id="{D3D87093-7E95-40F5-B349-9D4387C57E6E}"/>
              </a:ext>
            </a:extLst>
          </p:cNvPr>
          <p:cNvSpPr>
            <a:spLocks noGrp="1"/>
          </p:cNvSpPr>
          <p:nvPr/>
        </p:nvSpPr>
        <p:spPr>
          <a:xfrm>
            <a:off x="6515100" y="2243138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Подтверждённый резерв</a:t>
            </a:r>
          </a:p>
        </p:txBody>
      </p:sp>
      <p:sp>
        <p:nvSpPr>
          <p:cNvPr id="7" name="Поставщик подтверждает удержание.&#10;Покупате">
            <a:extLst>
              <a:ext uri="{FF2B5EF4-FFF2-40B4-BE49-F238E27FC236}">
                <a16:creationId xmlns:a16="http://schemas.microsoft.com/office/drawing/2014/main" id="{9C4317E9-FB03-4849-ADE6-576A325497E6}"/>
              </a:ext>
            </a:extLst>
          </p:cNvPr>
          <p:cNvSpPr>
            <a:spLocks noGrp="1"/>
          </p:cNvSpPr>
          <p:nvPr/>
        </p:nvSpPr>
        <p:spPr>
          <a:xfrm>
            <a:off x="6515100" y="2909888"/>
            <a:ext cx="47625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Поставщик подтверждает удержание.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Покупатель согласует новые условия.</a:t>
            </a:r>
          </a:p>
        </p:txBody>
      </p:sp>
      <p:sp>
        <p:nvSpPr>
          <p:cNvPr id="8" name="Непокрытый объём остаётся видимым">
            <a:extLst>
              <a:ext uri="{FF2B5EF4-FFF2-40B4-BE49-F238E27FC236}">
                <a16:creationId xmlns:a16="http://schemas.microsoft.com/office/drawing/2014/main" id="{66359008-C260-455C-BEEF-6A27146BDC2D}"/>
              </a:ext>
            </a:extLst>
          </p:cNvPr>
          <p:cNvSpPr>
            <a:spLocks noGrp="1"/>
          </p:cNvSpPr>
          <p:nvPr/>
        </p:nvSpPr>
        <p:spPr>
          <a:xfrm>
            <a:off x="914400" y="4538663"/>
            <a:ext cx="10363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4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EE85"/>
                </a:solidFill>
                <a:latin typeface="Arial"/>
                <a:ea typeface="Arial"/>
                <a:cs typeface="Arial"/>
              </a:rPr>
              <a:t>Непокрытый объём остаётся видимым</a:t>
            </a:r>
          </a:p>
        </p:txBody>
      </p:sp>
      <p:sp>
        <p:nvSpPr>
          <p:cNvPr id="9" name="Стоимость удержания и переключения входит ">
            <a:extLst>
              <a:ext uri="{FF2B5EF4-FFF2-40B4-BE49-F238E27FC236}">
                <a16:creationId xmlns:a16="http://schemas.microsoft.com/office/drawing/2014/main" id="{9F27B26F-4636-4A6B-8D53-E76A09FB41C8}"/>
              </a:ext>
            </a:extLst>
          </p:cNvPr>
          <p:cNvSpPr>
            <a:spLocks noGrp="1"/>
          </p:cNvSpPr>
          <p:nvPr/>
        </p:nvSpPr>
        <p:spPr>
          <a:xfrm>
            <a:off x="914400" y="5119688"/>
            <a:ext cx="10363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76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Стоимость удержания и переключения входит в оценку варианта</a:t>
            </a:r>
          </a:p>
        </p:txBody>
      </p:sp>
      <p:sp>
        <p:nvSpPr>
          <p:cNvPr id="11" name="Разделитель">
            <a:extLst>
              <a:ext uri="{FF2B5EF4-FFF2-40B4-BE49-F238E27FC236}">
                <a16:creationId xmlns:a16="http://schemas.microsoft.com/office/drawing/2014/main" id="{7E586261-5462-4EAD-ADBD-731C6F5A200F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1456128E-7C57-42B0-80AE-95DDF48A65D6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09">
            <a:extLst>
              <a:ext uri="{FF2B5EF4-FFF2-40B4-BE49-F238E27FC236}">
                <a16:creationId xmlns:a16="http://schemas.microsoft.com/office/drawing/2014/main" id="{6A3DE6B4-75A3-434D-A883-0F54A6F1E424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5193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Смысловой блок 10 628-470">
            <a:extLst>
              <a:ext uri="{FF2B5EF4-FFF2-40B4-BE49-F238E27FC236}">
                <a16:creationId xmlns:a16="http://schemas.microsoft.com/office/drawing/2014/main" id="{88F64F1F-E1E4-49B8-B76B-816A7F3D77CF}"/>
              </a:ext>
            </a:extLst>
          </p:cNvPr>
          <p:cNvSpPr>
            <a:spLocks noGrp="1"/>
          </p:cNvSpPr>
          <p:nvPr/>
        </p:nvSpPr>
        <p:spPr>
          <a:xfrm>
            <a:off x="5981700" y="4476750"/>
            <a:ext cx="5600700" cy="1181100"/>
          </a:xfrm>
          <a:prstGeom prst="roundRect">
            <a:avLst>
              <a:gd name="adj" fmla="val 16129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Смысловой блок 10 628-328">
            <a:extLst>
              <a:ext uri="{FF2B5EF4-FFF2-40B4-BE49-F238E27FC236}">
                <a16:creationId xmlns:a16="http://schemas.microsoft.com/office/drawing/2014/main" id="{4B51B495-ADDA-4439-9265-0EB235F912CE}"/>
              </a:ext>
            </a:extLst>
          </p:cNvPr>
          <p:cNvSpPr>
            <a:spLocks noGrp="1"/>
          </p:cNvSpPr>
          <p:nvPr/>
        </p:nvSpPr>
        <p:spPr>
          <a:xfrm>
            <a:off x="5981700" y="3124200"/>
            <a:ext cx="5600700" cy="1181100"/>
          </a:xfrm>
          <a:prstGeom prst="roundRect">
            <a:avLst>
              <a:gd name="adj" fmla="val 16129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Смысловой блок 10 628-186">
            <a:extLst>
              <a:ext uri="{FF2B5EF4-FFF2-40B4-BE49-F238E27FC236}">
                <a16:creationId xmlns:a16="http://schemas.microsoft.com/office/drawing/2014/main" id="{487AAAFC-4AE1-48FA-B9BF-2302F9963685}"/>
              </a:ext>
            </a:extLst>
          </p:cNvPr>
          <p:cNvSpPr>
            <a:spLocks noGrp="1"/>
          </p:cNvSpPr>
          <p:nvPr/>
        </p:nvSpPr>
        <p:spPr>
          <a:xfrm>
            <a:off x="5981700" y="1771650"/>
            <a:ext cx="5600700" cy="1181100"/>
          </a:xfrm>
          <a:prstGeom prst="roundRect">
            <a:avLst>
              <a:gd name="adj" fmla="val 16129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Смысловой блок 10 64-186">
            <a:extLst>
              <a:ext uri="{FF2B5EF4-FFF2-40B4-BE49-F238E27FC236}">
                <a16:creationId xmlns:a16="http://schemas.microsoft.com/office/drawing/2014/main" id="{5419F532-2605-4E43-820D-89580C7CCDD3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5143500" cy="3886200"/>
          </a:xfrm>
          <a:prstGeom prst="roundRect">
            <a:avLst>
              <a:gd name="adj" fmla="val 4902"/>
            </a:avLst>
          </a:prstGeom>
          <a:gradFill>
            <a:gsLst>
              <a:gs pos="0">
                <a:srgbClr val="2D2440"/>
              </a:gs>
              <a:gs pos="100000">
                <a:srgbClr val="191B28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Безопасность и доверие">
            <a:extLst>
              <a:ext uri="{FF2B5EF4-FFF2-40B4-BE49-F238E27FC236}">
                <a16:creationId xmlns:a16="http://schemas.microsoft.com/office/drawing/2014/main" id="{70920D5A-272F-4CB0-B903-1890A498D70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Безопасность и доверие</a:t>
            </a:r>
          </a:p>
        </p:txBody>
      </p:sp>
      <p:sp>
        <p:nvSpPr>
          <p:cNvPr id="4" name="Доступ по полномочиям">
            <a:extLst>
              <a:ext uri="{FF2B5EF4-FFF2-40B4-BE49-F238E27FC236}">
                <a16:creationId xmlns:a16="http://schemas.microsoft.com/office/drawing/2014/main" id="{9E2108C5-1DEB-4720-9E6E-D90FB806A481}"/>
              </a:ext>
            </a:extLst>
          </p:cNvPr>
          <p:cNvSpPr>
            <a:spLocks noGrp="1"/>
          </p:cNvSpPr>
          <p:nvPr/>
        </p:nvSpPr>
        <p:spPr>
          <a:xfrm>
            <a:off x="6248400" y="1843088"/>
            <a:ext cx="5067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Доступ по полномочиям</a:t>
            </a:r>
          </a:p>
        </p:txBody>
      </p:sp>
      <p:sp>
        <p:nvSpPr>
          <p:cNvPr id="5" name="Данные своей компании&#10;и разрешённые действ">
            <a:extLst>
              <a:ext uri="{FF2B5EF4-FFF2-40B4-BE49-F238E27FC236}">
                <a16:creationId xmlns:a16="http://schemas.microsoft.com/office/drawing/2014/main" id="{FAB022BE-F693-4717-BFB0-8BDB5F18CCCF}"/>
              </a:ext>
            </a:extLst>
          </p:cNvPr>
          <p:cNvSpPr>
            <a:spLocks noGrp="1"/>
          </p:cNvSpPr>
          <p:nvPr/>
        </p:nvSpPr>
        <p:spPr>
          <a:xfrm>
            <a:off x="6248400" y="2195513"/>
            <a:ext cx="50673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Данные своей компании</a:t>
            </a:r>
          </a:p>
          <a:p>
            <a:pPr algn="l">
              <a:lnSpc>
                <a:spcPct val="113000"/>
              </a:lnSpc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 разрешённые действия</a:t>
            </a:r>
          </a:p>
        </p:txBody>
      </p:sp>
      <p:sp>
        <p:nvSpPr>
          <p:cNvPr id="6" name="Факты с источниками">
            <a:extLst>
              <a:ext uri="{FF2B5EF4-FFF2-40B4-BE49-F238E27FC236}">
                <a16:creationId xmlns:a16="http://schemas.microsoft.com/office/drawing/2014/main" id="{6676A044-99C2-42F5-AD9B-33C2A4D69CBB}"/>
              </a:ext>
            </a:extLst>
          </p:cNvPr>
          <p:cNvSpPr>
            <a:spLocks noGrp="1"/>
          </p:cNvSpPr>
          <p:nvPr/>
        </p:nvSpPr>
        <p:spPr>
          <a:xfrm>
            <a:off x="6248400" y="3195638"/>
            <a:ext cx="5067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Факты с источниками</a:t>
            </a:r>
          </a:p>
        </p:txBody>
      </p:sp>
      <p:sp>
        <p:nvSpPr>
          <p:cNvPr id="7" name="Цитаты и противоречия&#10;вместо скрытых предп">
            <a:extLst>
              <a:ext uri="{FF2B5EF4-FFF2-40B4-BE49-F238E27FC236}">
                <a16:creationId xmlns:a16="http://schemas.microsoft.com/office/drawing/2014/main" id="{47594585-C865-4B84-A790-89F6C503BA4C}"/>
              </a:ext>
            </a:extLst>
          </p:cNvPr>
          <p:cNvSpPr>
            <a:spLocks noGrp="1"/>
          </p:cNvSpPr>
          <p:nvPr/>
        </p:nvSpPr>
        <p:spPr>
          <a:xfrm>
            <a:off x="6248400" y="3548063"/>
            <a:ext cx="50673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Цитаты и противоречия</a:t>
            </a:r>
          </a:p>
          <a:p>
            <a:pPr algn="l">
              <a:lnSpc>
                <a:spcPct val="113000"/>
              </a:lnSpc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вместо скрытых предположений</a:t>
            </a:r>
          </a:p>
        </p:txBody>
      </p:sp>
      <p:sp>
        <p:nvSpPr>
          <p:cNvPr id="8" name="Решение человека">
            <a:extLst>
              <a:ext uri="{FF2B5EF4-FFF2-40B4-BE49-F238E27FC236}">
                <a16:creationId xmlns:a16="http://schemas.microsoft.com/office/drawing/2014/main" id="{40B6B762-0BD5-42E7-9FCA-DF27932031B6}"/>
              </a:ext>
            </a:extLst>
          </p:cNvPr>
          <p:cNvSpPr>
            <a:spLocks noGrp="1"/>
          </p:cNvSpPr>
          <p:nvPr/>
        </p:nvSpPr>
        <p:spPr>
          <a:xfrm>
            <a:off x="914400" y="1966913"/>
            <a:ext cx="453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6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7EE85"/>
                </a:solidFill>
                <a:latin typeface="Arial"/>
                <a:ea typeface="Arial"/>
                <a:cs typeface="Arial"/>
              </a:rPr>
              <a:t>Решение человека</a:t>
            </a:r>
          </a:p>
        </p:txBody>
      </p:sp>
      <p:sp>
        <p:nvSpPr>
          <p:cNvPr id="9" name="Проверка цены, ресурса&#10;и обязательств пере">
            <a:extLst>
              <a:ext uri="{FF2B5EF4-FFF2-40B4-BE49-F238E27FC236}">
                <a16:creationId xmlns:a16="http://schemas.microsoft.com/office/drawing/2014/main" id="{9E2723D1-CE11-4C77-A8FB-5D0CCCDD4624}"/>
              </a:ext>
            </a:extLst>
          </p:cNvPr>
          <p:cNvSpPr>
            <a:spLocks noGrp="1"/>
          </p:cNvSpPr>
          <p:nvPr/>
        </p:nvSpPr>
        <p:spPr>
          <a:xfrm>
            <a:off x="914400" y="2890838"/>
            <a:ext cx="45339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Проверка цены, ресурса</a:t>
            </a:r>
          </a:p>
          <a:p>
            <a:pPr algn="l">
              <a:lnSpc>
                <a:spcPct val="113000"/>
              </a:lnSpc>
              <a:buNone/>
              <a:defRPr sz="21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 обязательств перед согласием</a:t>
            </a:r>
          </a:p>
        </p:txBody>
      </p:sp>
      <p:sp>
        <p:nvSpPr>
          <p:cNvPr id="10" name="Версии и аудит">
            <a:extLst>
              <a:ext uri="{FF2B5EF4-FFF2-40B4-BE49-F238E27FC236}">
                <a16:creationId xmlns:a16="http://schemas.microsoft.com/office/drawing/2014/main" id="{8618B635-1894-4AE4-BD81-5A6BE4FDB179}"/>
              </a:ext>
            </a:extLst>
          </p:cNvPr>
          <p:cNvSpPr>
            <a:spLocks noGrp="1"/>
          </p:cNvSpPr>
          <p:nvPr/>
        </p:nvSpPr>
        <p:spPr>
          <a:xfrm>
            <a:off x="6248400" y="4548188"/>
            <a:ext cx="5067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Версии и аудит</a:t>
            </a:r>
          </a:p>
        </p:txBody>
      </p:sp>
      <p:sp>
        <p:nvSpPr>
          <p:cNvPr id="11" name="Изменённые условия&#10;требуют нового подтверж">
            <a:extLst>
              <a:ext uri="{FF2B5EF4-FFF2-40B4-BE49-F238E27FC236}">
                <a16:creationId xmlns:a16="http://schemas.microsoft.com/office/drawing/2014/main" id="{45763EA4-637C-4CF0-A6CD-B48EE6779441}"/>
              </a:ext>
            </a:extLst>
          </p:cNvPr>
          <p:cNvSpPr>
            <a:spLocks noGrp="1"/>
          </p:cNvSpPr>
          <p:nvPr/>
        </p:nvSpPr>
        <p:spPr>
          <a:xfrm>
            <a:off x="6248400" y="4900613"/>
            <a:ext cx="50673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Изменённые условия</a:t>
            </a:r>
          </a:p>
          <a:p>
            <a:pPr algn="l">
              <a:lnSpc>
                <a:spcPct val="113000"/>
              </a:lnSpc>
              <a:buNone/>
              <a:defRPr sz="1688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требуют нового подтверждения</a:t>
            </a:r>
          </a:p>
        </p:txBody>
      </p:sp>
      <p:sp>
        <p:nvSpPr>
          <p:cNvPr id="12" name="Клиентские файлы остаются в локальном конт">
            <a:extLst>
              <a:ext uri="{FF2B5EF4-FFF2-40B4-BE49-F238E27FC236}">
                <a16:creationId xmlns:a16="http://schemas.microsoft.com/office/drawing/2014/main" id="{1C46F532-C6D6-4D44-86CF-A270AABE0A9E}"/>
              </a:ext>
            </a:extLst>
          </p:cNvPr>
          <p:cNvSpPr>
            <a:spLocks noGrp="1"/>
          </p:cNvSpPr>
          <p:nvPr/>
        </p:nvSpPr>
        <p:spPr>
          <a:xfrm>
            <a:off x="914400" y="4786313"/>
            <a:ext cx="45339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Клиентские файлы остаются</a:t>
            </a:r>
          </a:p>
          <a:p>
            <a:pPr algn="l">
              <a:lnSpc>
                <a:spcPct val="113000"/>
              </a:lnSpc>
              <a:buNone/>
              <a:defRPr sz="15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в локальном контуре обработки.</a:t>
            </a:r>
          </a:p>
        </p:txBody>
      </p:sp>
      <p:sp>
        <p:nvSpPr>
          <p:cNvPr id="14" name="Разделитель">
            <a:extLst>
              <a:ext uri="{FF2B5EF4-FFF2-40B4-BE49-F238E27FC236}">
                <a16:creationId xmlns:a16="http://schemas.microsoft.com/office/drawing/2014/main" id="{E64CE199-0106-4B2B-AAEC-88E74A7721E2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8B56A45C-616F-44F7-AB03-CA55361498B3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10">
            <a:extLst>
              <a:ext uri="{FF2B5EF4-FFF2-40B4-BE49-F238E27FC236}">
                <a16:creationId xmlns:a16="http://schemas.microsoft.com/office/drawing/2014/main" id="{A46B2D37-71DB-43A4-8FB8-73130E618238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0797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Смысловой блок 11 636-400">
            <a:extLst>
              <a:ext uri="{FF2B5EF4-FFF2-40B4-BE49-F238E27FC236}">
                <a16:creationId xmlns:a16="http://schemas.microsoft.com/office/drawing/2014/main" id="{162CA962-E83E-4C37-BB76-12FBE9DC98EC}"/>
              </a:ext>
            </a:extLst>
          </p:cNvPr>
          <p:cNvSpPr>
            <a:spLocks noGrp="1"/>
          </p:cNvSpPr>
          <p:nvPr/>
        </p:nvSpPr>
        <p:spPr>
          <a:xfrm>
            <a:off x="6057900" y="3810000"/>
            <a:ext cx="5524500" cy="1847850"/>
          </a:xfrm>
          <a:prstGeom prst="roundRect">
            <a:avLst>
              <a:gd name="adj" fmla="val 10309"/>
            </a:avLst>
          </a:prstGeom>
          <a:gradFill>
            <a:gsLst>
              <a:gs pos="0">
                <a:srgbClr val="26301F"/>
              </a:gs>
              <a:gs pos="100000">
                <a:srgbClr val="161F1A"/>
              </a:gs>
            </a:gsLst>
            <a:lin ang="8100000"/>
          </a:gradFill>
          <a:ln w="9525">
            <a:solidFill>
              <a:srgbClr val="4654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Смысловой блок 11 636-186">
            <a:extLst>
              <a:ext uri="{FF2B5EF4-FFF2-40B4-BE49-F238E27FC236}">
                <a16:creationId xmlns:a16="http://schemas.microsoft.com/office/drawing/2014/main" id="{AB7B3297-3919-47E4-B236-7AB6D3366D0C}"/>
              </a:ext>
            </a:extLst>
          </p:cNvPr>
          <p:cNvSpPr>
            <a:spLocks noGrp="1"/>
          </p:cNvSpPr>
          <p:nvPr/>
        </p:nvSpPr>
        <p:spPr>
          <a:xfrm>
            <a:off x="6057900" y="1771650"/>
            <a:ext cx="5524500" cy="1809750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Смысловой блок 11 64-186">
            <a:extLst>
              <a:ext uri="{FF2B5EF4-FFF2-40B4-BE49-F238E27FC236}">
                <a16:creationId xmlns:a16="http://schemas.microsoft.com/office/drawing/2014/main" id="{8AD462B1-4886-4225-95FE-6091101A08FD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5219700" cy="3886200"/>
          </a:xfrm>
          <a:prstGeom prst="roundRect">
            <a:avLst>
              <a:gd name="adj" fmla="val 4902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Аналитика по фактическому исполнению">
            <a:extLst>
              <a:ext uri="{FF2B5EF4-FFF2-40B4-BE49-F238E27FC236}">
                <a16:creationId xmlns:a16="http://schemas.microsoft.com/office/drawing/2014/main" id="{8CDCDE27-5EEC-447E-813F-FBBEC1C19BD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Аналитика по фактическому исполнению</a:t>
            </a:r>
          </a:p>
        </p:txBody>
      </p:sp>
      <p:sp>
        <p:nvSpPr>
          <p:cNvPr id="4" name="10 заказано">
            <a:extLst>
              <a:ext uri="{FF2B5EF4-FFF2-40B4-BE49-F238E27FC236}">
                <a16:creationId xmlns:a16="http://schemas.microsoft.com/office/drawing/2014/main" id="{C721636F-0325-4F73-B7BF-772624523800}"/>
              </a:ext>
            </a:extLst>
          </p:cNvPr>
          <p:cNvSpPr>
            <a:spLocks noGrp="1"/>
          </p:cNvSpPr>
          <p:nvPr/>
        </p:nvSpPr>
        <p:spPr>
          <a:xfrm>
            <a:off x="914400" y="2290763"/>
            <a:ext cx="4610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10 заказано</a:t>
            </a:r>
          </a:p>
        </p:txBody>
      </p:sp>
      <p:sp>
        <p:nvSpPr>
          <p:cNvPr id="5" name="6 принято, 1 возвращён">
            <a:extLst>
              <a:ext uri="{FF2B5EF4-FFF2-40B4-BE49-F238E27FC236}">
                <a16:creationId xmlns:a16="http://schemas.microsoft.com/office/drawing/2014/main" id="{864696FF-8AAF-4CA0-9AD7-CA51024F1016}"/>
              </a:ext>
            </a:extLst>
          </p:cNvPr>
          <p:cNvSpPr>
            <a:spLocks noGrp="1"/>
          </p:cNvSpPr>
          <p:nvPr/>
        </p:nvSpPr>
        <p:spPr>
          <a:xfrm>
            <a:off x="914400" y="3357563"/>
            <a:ext cx="46101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0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6 принято, 1 возвращён</a:t>
            </a:r>
          </a:p>
        </p:txBody>
      </p:sp>
      <p:sp>
        <p:nvSpPr>
          <p:cNvPr id="6" name="5 единиц исполнено">
            <a:extLst>
              <a:ext uri="{FF2B5EF4-FFF2-40B4-BE49-F238E27FC236}">
                <a16:creationId xmlns:a16="http://schemas.microsoft.com/office/drawing/2014/main" id="{9D3B7289-3535-4FB9-8009-9533305A57A4}"/>
              </a:ext>
            </a:extLst>
          </p:cNvPr>
          <p:cNvSpPr>
            <a:spLocks noGrp="1"/>
          </p:cNvSpPr>
          <p:nvPr/>
        </p:nvSpPr>
        <p:spPr>
          <a:xfrm>
            <a:off x="914400" y="4500563"/>
            <a:ext cx="46101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7EE85"/>
                </a:solidFill>
                <a:latin typeface="Arial"/>
                <a:ea typeface="Arial"/>
                <a:cs typeface="Arial"/>
              </a:rPr>
              <a:t>5 единиц исполнено</a:t>
            </a:r>
          </a:p>
        </p:txBody>
      </p:sp>
      <p:sp>
        <p:nvSpPr>
          <p:cNvPr id="7" name="5 000 ₽">
            <a:extLst>
              <a:ext uri="{FF2B5EF4-FFF2-40B4-BE49-F238E27FC236}">
                <a16:creationId xmlns:a16="http://schemas.microsoft.com/office/drawing/2014/main" id="{F09DE6D4-34DC-4D75-8E7E-E1821FA00597}"/>
              </a:ext>
            </a:extLst>
          </p:cNvPr>
          <p:cNvSpPr>
            <a:spLocks noGrp="1"/>
          </p:cNvSpPr>
          <p:nvPr/>
        </p:nvSpPr>
        <p:spPr>
          <a:xfrm>
            <a:off x="6362700" y="1962150"/>
            <a:ext cx="49149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40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5 000 ₽</a:t>
            </a:r>
          </a:p>
        </p:txBody>
      </p:sp>
      <p:sp>
        <p:nvSpPr>
          <p:cNvPr id="8" name="стоимость после возврата">
            <a:extLst>
              <a:ext uri="{FF2B5EF4-FFF2-40B4-BE49-F238E27FC236}">
                <a16:creationId xmlns:a16="http://schemas.microsoft.com/office/drawing/2014/main" id="{EF16CFF4-7E4F-4C06-AB6C-246C5F946771}"/>
              </a:ext>
            </a:extLst>
          </p:cNvPr>
          <p:cNvSpPr>
            <a:spLocks noGrp="1"/>
          </p:cNvSpPr>
          <p:nvPr/>
        </p:nvSpPr>
        <p:spPr>
          <a:xfrm>
            <a:off x="6362700" y="2838450"/>
            <a:ext cx="491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стоимость после возврата</a:t>
            </a:r>
          </a:p>
        </p:txBody>
      </p:sp>
      <p:sp>
        <p:nvSpPr>
          <p:cNvPr id="9" name="1 800 ₽">
            <a:extLst>
              <a:ext uri="{FF2B5EF4-FFF2-40B4-BE49-F238E27FC236}">
                <a16:creationId xmlns:a16="http://schemas.microsoft.com/office/drawing/2014/main" id="{BE7E15AD-F104-4E43-9CB2-B36CAAD41FAC}"/>
              </a:ext>
            </a:extLst>
          </p:cNvPr>
          <p:cNvSpPr>
            <a:spLocks noGrp="1"/>
          </p:cNvSpPr>
          <p:nvPr/>
        </p:nvSpPr>
        <p:spPr>
          <a:xfrm>
            <a:off x="6362700" y="3871913"/>
            <a:ext cx="49149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40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C7EE85"/>
                </a:solidFill>
                <a:latin typeface="Arial"/>
                <a:ea typeface="Arial"/>
                <a:cs typeface="Arial"/>
              </a:rPr>
              <a:t>1 800 ₽</a:t>
            </a:r>
          </a:p>
        </p:txBody>
      </p:sp>
      <p:sp>
        <p:nvSpPr>
          <p:cNvPr id="10" name="результат после известных затрат">
            <a:extLst>
              <a:ext uri="{FF2B5EF4-FFF2-40B4-BE49-F238E27FC236}">
                <a16:creationId xmlns:a16="http://schemas.microsoft.com/office/drawing/2014/main" id="{39BDD1B6-A53F-4DE1-BB09-1D5C4CE77E4A}"/>
              </a:ext>
            </a:extLst>
          </p:cNvPr>
          <p:cNvSpPr>
            <a:spLocks noGrp="1"/>
          </p:cNvSpPr>
          <p:nvPr/>
        </p:nvSpPr>
        <p:spPr>
          <a:xfrm>
            <a:off x="6362700" y="4738688"/>
            <a:ext cx="49149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результат после</a:t>
            </a:r>
          </a:p>
          <a:p>
            <a:pPr algn="l">
              <a:lnSpc>
                <a:spcPct val="113000"/>
              </a:lnSpc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известных затрат</a:t>
            </a:r>
          </a:p>
        </p:txBody>
      </p:sp>
      <p:sp>
        <p:nvSpPr>
          <p:cNvPr id="11" name="Контрольный пример. Поступления денег и чи">
            <a:extLst>
              <a:ext uri="{FF2B5EF4-FFF2-40B4-BE49-F238E27FC236}">
                <a16:creationId xmlns:a16="http://schemas.microsoft.com/office/drawing/2014/main" id="{E9F52A6A-34C7-468B-8EAA-EF4C74D29277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Контрольный пример. Поступления денег и чистая прибыль не выводятся из числа заказов.</a:t>
            </a:r>
          </a:p>
        </p:txBody>
      </p:sp>
      <p:sp>
        <p:nvSpPr>
          <p:cNvPr id="13" name="Разделитель">
            <a:extLst>
              <a:ext uri="{FF2B5EF4-FFF2-40B4-BE49-F238E27FC236}">
                <a16:creationId xmlns:a16="http://schemas.microsoft.com/office/drawing/2014/main" id="{DA03D802-37C1-4803-9B28-DE46B08D1302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Разделитель">
            <a:extLst>
              <a:ext uri="{FF2B5EF4-FFF2-40B4-BE49-F238E27FC236}">
                <a16:creationId xmlns:a16="http://schemas.microsoft.com/office/drawing/2014/main" id="{903032C5-BF28-45EE-9A50-47F4F61BE24E}"/>
              </a:ext>
            </a:extLst>
          </p:cNvPr>
          <p:cNvSpPr>
            <a:spLocks noGrp="1"/>
          </p:cNvSpPr>
          <p:nvPr/>
        </p:nvSpPr>
        <p:spPr>
          <a:xfrm>
            <a:off x="914400" y="3148013"/>
            <a:ext cx="46101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Разделитель">
            <a:extLst>
              <a:ext uri="{FF2B5EF4-FFF2-40B4-BE49-F238E27FC236}">
                <a16:creationId xmlns:a16="http://schemas.microsoft.com/office/drawing/2014/main" id="{0136B688-90E6-49C4-8D2C-596B21187CD7}"/>
              </a:ext>
            </a:extLst>
          </p:cNvPr>
          <p:cNvSpPr>
            <a:spLocks noGrp="1"/>
          </p:cNvSpPr>
          <p:nvPr/>
        </p:nvSpPr>
        <p:spPr>
          <a:xfrm>
            <a:off x="914400" y="4186238"/>
            <a:ext cx="46101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C74A12FD-3ACA-4D3A-B422-4B3230F19232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11">
            <a:extLst>
              <a:ext uri="{FF2B5EF4-FFF2-40B4-BE49-F238E27FC236}">
                <a16:creationId xmlns:a16="http://schemas.microsoft.com/office/drawing/2014/main" id="{E0881CE6-D564-4FAC-AD81-1E6940DF5E13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8386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мысловой блок 12 64-468">
            <a:extLst>
              <a:ext uri="{FF2B5EF4-FFF2-40B4-BE49-F238E27FC236}">
                <a16:creationId xmlns:a16="http://schemas.microsoft.com/office/drawing/2014/main" id="{A006AC07-B958-4FE4-81C6-DAEC4946F86D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1219200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26301F"/>
              </a:gs>
              <a:gs pos="100000">
                <a:srgbClr val="161F1A"/>
              </a:gs>
            </a:gsLst>
            <a:lin ang="8100000"/>
          </a:gradFill>
          <a:ln w="9525">
            <a:solidFill>
              <a:srgbClr val="4654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Смысловой блок 12 652-186">
            <a:extLst>
              <a:ext uri="{FF2B5EF4-FFF2-40B4-BE49-F238E27FC236}">
                <a16:creationId xmlns:a16="http://schemas.microsoft.com/office/drawing/2014/main" id="{43AB790B-8EE2-4E84-AC3A-5E2E37126BFD}"/>
              </a:ext>
            </a:extLst>
          </p:cNvPr>
          <p:cNvSpPr>
            <a:spLocks noGrp="1"/>
          </p:cNvSpPr>
          <p:nvPr/>
        </p:nvSpPr>
        <p:spPr>
          <a:xfrm>
            <a:off x="6210300" y="1771650"/>
            <a:ext cx="5372100" cy="2457450"/>
          </a:xfrm>
          <a:prstGeom prst="roundRect">
            <a:avLst>
              <a:gd name="adj" fmla="val 7752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Смысловой блок 12 64-186">
            <a:extLst>
              <a:ext uri="{FF2B5EF4-FFF2-40B4-BE49-F238E27FC236}">
                <a16:creationId xmlns:a16="http://schemas.microsoft.com/office/drawing/2014/main" id="{0CAA29C4-0F86-47F8-B54C-927C47E4FA62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5372100" cy="2457450"/>
          </a:xfrm>
          <a:prstGeom prst="roundRect">
            <a:avLst>
              <a:gd name="adj" fmla="val 7752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Локальный ИИ в контуре платформы">
            <a:extLst>
              <a:ext uri="{FF2B5EF4-FFF2-40B4-BE49-F238E27FC236}">
                <a16:creationId xmlns:a16="http://schemas.microsoft.com/office/drawing/2014/main" id="{474B57BE-A33A-4B02-B800-CD2379DAEEE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Локальный ИИ в контуре платформы</a:t>
            </a:r>
          </a:p>
        </p:txBody>
      </p:sp>
      <p:sp>
        <p:nvSpPr>
          <p:cNvPr id="4" name="Сервер">
            <a:extLst>
              <a:ext uri="{FF2B5EF4-FFF2-40B4-BE49-F238E27FC236}">
                <a16:creationId xmlns:a16="http://schemas.microsoft.com/office/drawing/2014/main" id="{56ED554C-3FB5-496F-A4EF-E7CEFE411787}"/>
              </a:ext>
            </a:extLst>
          </p:cNvPr>
          <p:cNvSpPr>
            <a:spLocks noGrp="1"/>
          </p:cNvSpPr>
          <p:nvPr/>
        </p:nvSpPr>
        <p:spPr>
          <a:xfrm>
            <a:off x="914400" y="2262188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5" name="Сайт, авторизация, бизнес-операции,&#10;база и">
            <a:extLst>
              <a:ext uri="{FF2B5EF4-FFF2-40B4-BE49-F238E27FC236}">
                <a16:creationId xmlns:a16="http://schemas.microsoft.com/office/drawing/2014/main" id="{E88B1F87-06F8-466F-A09D-21FBE4854CEB}"/>
              </a:ext>
            </a:extLst>
          </p:cNvPr>
          <p:cNvSpPr>
            <a:spLocks noGrp="1"/>
          </p:cNvSpPr>
          <p:nvPr/>
        </p:nvSpPr>
        <p:spPr>
          <a:xfrm>
            <a:off x="914400" y="2947988"/>
            <a:ext cx="47625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Сайт, авторизация, бизнес-операции,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база и файловое хранилище.</a:t>
            </a:r>
          </a:p>
        </p:txBody>
      </p:sp>
      <p:sp>
        <p:nvSpPr>
          <p:cNvPr id="6" name="Модельные ноутбуки">
            <a:extLst>
              <a:ext uri="{FF2B5EF4-FFF2-40B4-BE49-F238E27FC236}">
                <a16:creationId xmlns:a16="http://schemas.microsoft.com/office/drawing/2014/main" id="{75594CFD-ED25-4050-BC20-E2816B0474A3}"/>
              </a:ext>
            </a:extLst>
          </p:cNvPr>
          <p:cNvSpPr>
            <a:spLocks noGrp="1"/>
          </p:cNvSpPr>
          <p:nvPr/>
        </p:nvSpPr>
        <p:spPr>
          <a:xfrm>
            <a:off x="6515100" y="2262188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32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Модельные ноутбуки</a:t>
            </a:r>
          </a:p>
        </p:txBody>
      </p:sp>
      <p:sp>
        <p:nvSpPr>
          <p:cNvPr id="7" name="Qwen3.5 9B за LLM Gateway.&#10;Закрытый доступ">
            <a:extLst>
              <a:ext uri="{FF2B5EF4-FFF2-40B4-BE49-F238E27FC236}">
                <a16:creationId xmlns:a16="http://schemas.microsoft.com/office/drawing/2014/main" id="{638411D3-EE31-4667-9A02-FC9ED2055DD5}"/>
              </a:ext>
            </a:extLst>
          </p:cNvPr>
          <p:cNvSpPr>
            <a:spLocks noGrp="1"/>
          </p:cNvSpPr>
          <p:nvPr/>
        </p:nvSpPr>
        <p:spPr>
          <a:xfrm>
            <a:off x="6515100" y="2947988"/>
            <a:ext cx="47625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Qwen3.5 9B за LLM Gateway.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Закрытый доступ к узлам модели.</a:t>
            </a:r>
          </a:p>
        </p:txBody>
      </p:sp>
      <p:sp>
        <p:nvSpPr>
          <p:cNvPr id="8" name="RTX 5060">
            <a:extLst>
              <a:ext uri="{FF2B5EF4-FFF2-40B4-BE49-F238E27FC236}">
                <a16:creationId xmlns:a16="http://schemas.microsoft.com/office/drawing/2014/main" id="{5C974BF8-7FCB-402D-B02D-1441F89172D8}"/>
              </a:ext>
            </a:extLst>
          </p:cNvPr>
          <p:cNvSpPr>
            <a:spLocks noGrp="1"/>
          </p:cNvSpPr>
          <p:nvPr/>
        </p:nvSpPr>
        <p:spPr>
          <a:xfrm>
            <a:off x="914400" y="4786313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C7EE85"/>
                </a:solidFill>
                <a:latin typeface="Arial"/>
                <a:ea typeface="Arial"/>
                <a:cs typeface="Arial"/>
              </a:rPr>
              <a:t>RTX 5060</a:t>
            </a:r>
          </a:p>
        </p:txBody>
      </p:sp>
      <p:sp>
        <p:nvSpPr>
          <p:cNvPr id="9" name="MacBook M1 Pro">
            <a:extLst>
              <a:ext uri="{FF2B5EF4-FFF2-40B4-BE49-F238E27FC236}">
                <a16:creationId xmlns:a16="http://schemas.microsoft.com/office/drawing/2014/main" id="{2931B0E1-B0F5-4D05-A3CD-638A0D6BF687}"/>
              </a:ext>
            </a:extLst>
          </p:cNvPr>
          <p:cNvSpPr>
            <a:spLocks noGrp="1"/>
          </p:cNvSpPr>
          <p:nvPr/>
        </p:nvSpPr>
        <p:spPr>
          <a:xfrm>
            <a:off x="6515100" y="4786313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85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7EE85"/>
                </a:solidFill>
                <a:latin typeface="Arial"/>
                <a:ea typeface="Arial"/>
                <a:cs typeface="Arial"/>
              </a:rPr>
              <a:t>MacBook M1 Pro</a:t>
            </a:r>
          </a:p>
        </p:txBody>
      </p:sp>
      <p:sp>
        <p:nvSpPr>
          <p:cNvPr id="10" name="Один узел или два настроенных узла. Перекл">
            <a:extLst>
              <a:ext uri="{FF2B5EF4-FFF2-40B4-BE49-F238E27FC236}">
                <a16:creationId xmlns:a16="http://schemas.microsoft.com/office/drawing/2014/main" id="{A46C81E6-18C8-4B72-B2FB-25F0AF869AE6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lang="ru-RU" dirty="0"/>
              <a:t>Используется д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ва</a:t>
            </a:r>
            <a:r>
              <a:rPr sz="1313" b="0" dirty="0">
                <a:solidFill>
                  <a:srgbClr val="B8B7C9"/>
                </a:solidFill>
                <a:latin typeface="Arial"/>
                <a:ea typeface="Arial"/>
                <a:cs typeface="Arial"/>
              </a:rPr>
              <a:t> </a:t>
            </a:r>
            <a:r>
              <a:rPr sz="1313" b="0" dirty="0" err="1">
                <a:solidFill>
                  <a:srgbClr val="B8B7C9"/>
                </a:solidFill>
                <a:latin typeface="Arial"/>
                <a:ea typeface="Arial"/>
                <a:cs typeface="Arial"/>
              </a:rPr>
              <a:t>узла</a:t>
            </a:r>
            <a:r>
              <a:rPr lang="ru-RU" dirty="0"/>
              <a:t> для балансировки</a:t>
            </a:r>
            <a:endParaRPr sz="1313" b="0" dirty="0">
              <a:solidFill>
                <a:srgbClr val="B8B7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Разделитель">
            <a:extLst>
              <a:ext uri="{FF2B5EF4-FFF2-40B4-BE49-F238E27FC236}">
                <a16:creationId xmlns:a16="http://schemas.microsoft.com/office/drawing/2014/main" id="{BFF8F494-762A-44FF-B401-E6053BD214CB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6B27A9AA-50D2-4AC9-8A1B-5D6D8E00E6DE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12">
            <a:extLst>
              <a:ext uri="{FF2B5EF4-FFF2-40B4-BE49-F238E27FC236}">
                <a16:creationId xmlns:a16="http://schemas.microsoft.com/office/drawing/2014/main" id="{8D47791D-7E25-4773-8661-F493038C89E2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23082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95674ED-32A3-4BB4-8BCE-9D87E38EC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9" name="Смысловой блок 13 866-402">
            <a:extLst>
              <a:ext uri="{FF2B5EF4-FFF2-40B4-BE49-F238E27FC236}">
                <a16:creationId xmlns:a16="http://schemas.microsoft.com/office/drawing/2014/main" id="{6D83B5C7-7661-4506-9BF5-E1E03293DB65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3333750" cy="1752600"/>
          </a:xfrm>
          <a:prstGeom prst="roundRect">
            <a:avLst>
              <a:gd name="adj" fmla="val 10870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Смысловой блок 13 64-402">
            <a:extLst>
              <a:ext uri="{FF2B5EF4-FFF2-40B4-BE49-F238E27FC236}">
                <a16:creationId xmlns:a16="http://schemas.microsoft.com/office/drawing/2014/main" id="{F24906B6-AE40-44FC-B8A5-7B34928B6B35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3333750" cy="1752600"/>
          </a:xfrm>
          <a:prstGeom prst="roundRect">
            <a:avLst>
              <a:gd name="adj" fmla="val 10870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Смысловой блок 13 866-196">
            <a:extLst>
              <a:ext uri="{FF2B5EF4-FFF2-40B4-BE49-F238E27FC236}">
                <a16:creationId xmlns:a16="http://schemas.microsoft.com/office/drawing/2014/main" id="{43472C65-2E06-4A12-A126-41BE78E6AD68}"/>
              </a:ext>
            </a:extLst>
          </p:cNvPr>
          <p:cNvSpPr>
            <a:spLocks noGrp="1"/>
          </p:cNvSpPr>
          <p:nvPr/>
        </p:nvSpPr>
        <p:spPr>
          <a:xfrm>
            <a:off x="8248650" y="1866900"/>
            <a:ext cx="3333750" cy="1752600"/>
          </a:xfrm>
          <a:prstGeom prst="roundRect">
            <a:avLst>
              <a:gd name="adj" fmla="val 10870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Смысловой блок 13 64-196">
            <a:extLst>
              <a:ext uri="{FF2B5EF4-FFF2-40B4-BE49-F238E27FC236}">
                <a16:creationId xmlns:a16="http://schemas.microsoft.com/office/drawing/2014/main" id="{30230E8D-48C9-40BD-A83F-411E5F3BB129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3333750" cy="1752600"/>
          </a:xfrm>
          <a:prstGeom prst="roundRect">
            <a:avLst>
              <a:gd name="adj" fmla="val 10870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Обучение ИИ под задачи маркетплейса">
            <a:extLst>
              <a:ext uri="{FF2B5EF4-FFF2-40B4-BE49-F238E27FC236}">
                <a16:creationId xmlns:a16="http://schemas.microsoft.com/office/drawing/2014/main" id="{6CC6F203-D768-4D64-86CC-257D848C954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Обучение ИИ под задачи маркетплейса</a:t>
            </a:r>
          </a:p>
        </p:txBody>
      </p:sp>
      <p:sp>
        <p:nvSpPr>
          <p:cNvPr id="3" name="Язык отрасли">
            <a:extLst>
              <a:ext uri="{FF2B5EF4-FFF2-40B4-BE49-F238E27FC236}">
                <a16:creationId xmlns:a16="http://schemas.microsoft.com/office/drawing/2014/main" id="{673A279E-1A00-4F04-81F7-412C85F09AF8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28765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Язык отрасли</a:t>
            </a:r>
          </a:p>
        </p:txBody>
      </p:sp>
      <p:sp>
        <p:nvSpPr>
          <p:cNvPr id="4" name="Материалы, характеристики&#10;и единицы заказа">
            <a:extLst>
              <a:ext uri="{FF2B5EF4-FFF2-40B4-BE49-F238E27FC236}">
                <a16:creationId xmlns:a16="http://schemas.microsoft.com/office/drawing/2014/main" id="{B89AF9E1-D7D7-4A92-BB87-13143CE252CF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2952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Материалы, характеристики</a:t>
            </a:r>
          </a:p>
          <a:p>
            <a:pPr algn="l">
              <a:lnSpc>
                <a:spcPct val="113000"/>
              </a:lnSpc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 единицы заказа</a:t>
            </a:r>
          </a:p>
        </p:txBody>
      </p:sp>
      <p:sp>
        <p:nvSpPr>
          <p:cNvPr id="5" name="Формат платформы">
            <a:extLst>
              <a:ext uri="{FF2B5EF4-FFF2-40B4-BE49-F238E27FC236}">
                <a16:creationId xmlns:a16="http://schemas.microsoft.com/office/drawing/2014/main" id="{9028AE9F-DF82-40AA-A3FE-08A70F9A2F91}"/>
              </a:ext>
            </a:extLst>
          </p:cNvPr>
          <p:cNvSpPr>
            <a:spLocks noGrp="1"/>
          </p:cNvSpPr>
          <p:nvPr/>
        </p:nvSpPr>
        <p:spPr>
          <a:xfrm>
            <a:off x="8477250" y="2133600"/>
            <a:ext cx="28765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Формат платформы</a:t>
            </a:r>
          </a:p>
        </p:txBody>
      </p:sp>
      <p:sp>
        <p:nvSpPr>
          <p:cNvPr id="6" name="Структурированные&#10;запросы и предложения">
            <a:extLst>
              <a:ext uri="{FF2B5EF4-FFF2-40B4-BE49-F238E27FC236}">
                <a16:creationId xmlns:a16="http://schemas.microsoft.com/office/drawing/2014/main" id="{C32CE08F-3620-4B13-AA50-9B217D93C766}"/>
              </a:ext>
            </a:extLst>
          </p:cNvPr>
          <p:cNvSpPr>
            <a:spLocks noGrp="1"/>
          </p:cNvSpPr>
          <p:nvPr/>
        </p:nvSpPr>
        <p:spPr>
          <a:xfrm>
            <a:off x="8477250" y="2667000"/>
            <a:ext cx="28765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Структурированные</a:t>
            </a:r>
          </a:p>
          <a:p>
            <a:pPr algn="l">
              <a:lnSpc>
                <a:spcPct val="113000"/>
              </a:lnSpc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запросы и предложения</a:t>
            </a:r>
          </a:p>
        </p:txBody>
      </p:sp>
      <p:sp>
        <p:nvSpPr>
          <p:cNvPr id="7" name="Собственные сценарии">
            <a:extLst>
              <a:ext uri="{FF2B5EF4-FFF2-40B4-BE49-F238E27FC236}">
                <a16:creationId xmlns:a16="http://schemas.microsoft.com/office/drawing/2014/main" id="{743F4708-41F2-4D6C-937A-E9FC4EF6BF53}"/>
              </a:ext>
            </a:extLst>
          </p:cNvPr>
          <p:cNvSpPr>
            <a:spLocks noGrp="1"/>
          </p:cNvSpPr>
          <p:nvPr/>
        </p:nvSpPr>
        <p:spPr>
          <a:xfrm>
            <a:off x="838200" y="4100513"/>
            <a:ext cx="28765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Собственные сценарии</a:t>
            </a:r>
          </a:p>
        </p:txBody>
      </p:sp>
      <p:sp>
        <p:nvSpPr>
          <p:cNvPr id="8" name="Примеры из задач&#10;покупателя и поставщика">
            <a:extLst>
              <a:ext uri="{FF2B5EF4-FFF2-40B4-BE49-F238E27FC236}">
                <a16:creationId xmlns:a16="http://schemas.microsoft.com/office/drawing/2014/main" id="{3DEB3D51-5CB7-456D-8333-5BAF81D39262}"/>
              </a:ext>
            </a:extLst>
          </p:cNvPr>
          <p:cNvSpPr>
            <a:spLocks noGrp="1"/>
          </p:cNvSpPr>
          <p:nvPr/>
        </p:nvSpPr>
        <p:spPr>
          <a:xfrm>
            <a:off x="838200" y="4633913"/>
            <a:ext cx="28765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Примеры из задач</a:t>
            </a:r>
          </a:p>
          <a:p>
            <a:pPr algn="l">
              <a:lnSpc>
                <a:spcPct val="113000"/>
              </a:lnSpc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покупателя и поставщика</a:t>
            </a:r>
          </a:p>
        </p:txBody>
      </p:sp>
      <p:sp>
        <p:nvSpPr>
          <p:cNvPr id="9" name="Локальный контур">
            <a:extLst>
              <a:ext uri="{FF2B5EF4-FFF2-40B4-BE49-F238E27FC236}">
                <a16:creationId xmlns:a16="http://schemas.microsoft.com/office/drawing/2014/main" id="{9D724FDA-9F20-443E-84E4-64DE35873D63}"/>
              </a:ext>
            </a:extLst>
          </p:cNvPr>
          <p:cNvSpPr>
            <a:spLocks noGrp="1"/>
          </p:cNvSpPr>
          <p:nvPr/>
        </p:nvSpPr>
        <p:spPr>
          <a:xfrm>
            <a:off x="8477250" y="4100513"/>
            <a:ext cx="28765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Локальный контур</a:t>
            </a:r>
          </a:p>
        </p:txBody>
      </p:sp>
      <p:sp>
        <p:nvSpPr>
          <p:cNvPr id="10" name="Контроль данных&#10;и развитие своей модели">
            <a:extLst>
              <a:ext uri="{FF2B5EF4-FFF2-40B4-BE49-F238E27FC236}">
                <a16:creationId xmlns:a16="http://schemas.microsoft.com/office/drawing/2014/main" id="{B68F4161-9677-4567-B88C-E14F4D10E368}"/>
              </a:ext>
            </a:extLst>
          </p:cNvPr>
          <p:cNvSpPr>
            <a:spLocks noGrp="1"/>
          </p:cNvSpPr>
          <p:nvPr/>
        </p:nvSpPr>
        <p:spPr>
          <a:xfrm>
            <a:off x="8477250" y="4633913"/>
            <a:ext cx="28765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Контроль данных</a:t>
            </a:r>
          </a:p>
          <a:p>
            <a:pPr algn="l">
              <a:lnSpc>
                <a:spcPct val="113000"/>
              </a:lnSpc>
              <a:buNone/>
              <a:defRPr sz="172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 развитие своей модели</a:t>
            </a:r>
          </a:p>
        </p:txBody>
      </p:sp>
      <p:sp>
        <p:nvSpPr>
          <p:cNvPr id="11" name="Цель адаптации: точнее понимать запросы и ">
            <a:extLst>
              <a:ext uri="{FF2B5EF4-FFF2-40B4-BE49-F238E27FC236}">
                <a16:creationId xmlns:a16="http://schemas.microsoft.com/office/drawing/2014/main" id="{7652223C-D6E1-4E53-9D51-6608E36D8993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Цель адаптации: точнее понимать запросы и сокращать ручные правки</a:t>
            </a:r>
          </a:p>
        </p:txBody>
      </p:sp>
      <p:sp>
        <p:nvSpPr>
          <p:cNvPr id="15" name="Разделитель">
            <a:extLst>
              <a:ext uri="{FF2B5EF4-FFF2-40B4-BE49-F238E27FC236}">
                <a16:creationId xmlns:a16="http://schemas.microsoft.com/office/drawing/2014/main" id="{E1D80147-E05F-406D-8A0A-A1051EE140BF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ПоРукам">
            <a:extLst>
              <a:ext uri="{FF2B5EF4-FFF2-40B4-BE49-F238E27FC236}">
                <a16:creationId xmlns:a16="http://schemas.microsoft.com/office/drawing/2014/main" id="{657340BE-419A-403A-9141-D33A820D1A19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13" name="13">
            <a:extLst>
              <a:ext uri="{FF2B5EF4-FFF2-40B4-BE49-F238E27FC236}">
                <a16:creationId xmlns:a16="http://schemas.microsoft.com/office/drawing/2014/main" id="{3A10C9AD-9A1E-4BC0-88C8-E91D60930D20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20229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мысловой блок 14 64-488">
            <a:extLst>
              <a:ext uri="{FF2B5EF4-FFF2-40B4-BE49-F238E27FC236}">
                <a16:creationId xmlns:a16="http://schemas.microsoft.com/office/drawing/2014/main" id="{45174987-36CE-499E-B8B1-6BBA6B18B597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10972800" cy="1028700"/>
          </a:xfrm>
          <a:prstGeom prst="roundRect">
            <a:avLst>
              <a:gd name="adj" fmla="val 18519"/>
            </a:avLst>
          </a:prstGeom>
          <a:gradFill>
            <a:gsLst>
              <a:gs pos="0">
                <a:srgbClr val="26301F"/>
              </a:gs>
              <a:gs pos="100000">
                <a:srgbClr val="161F1A"/>
              </a:gs>
            </a:gsLst>
            <a:lin ang="8100000"/>
          </a:gradFill>
          <a:ln w="9525">
            <a:solidFill>
              <a:srgbClr val="4654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Смысловой блок 14 652-186">
            <a:extLst>
              <a:ext uri="{FF2B5EF4-FFF2-40B4-BE49-F238E27FC236}">
                <a16:creationId xmlns:a16="http://schemas.microsoft.com/office/drawing/2014/main" id="{3327D00B-A447-4134-9DE1-6894B5FC0162}"/>
              </a:ext>
            </a:extLst>
          </p:cNvPr>
          <p:cNvSpPr>
            <a:spLocks noGrp="1"/>
          </p:cNvSpPr>
          <p:nvPr/>
        </p:nvSpPr>
        <p:spPr>
          <a:xfrm>
            <a:off x="6210300" y="1771650"/>
            <a:ext cx="5372100" cy="2647950"/>
          </a:xfrm>
          <a:prstGeom prst="roundRect">
            <a:avLst>
              <a:gd name="adj" fmla="val 7194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Смысловой блок 14 64-186">
            <a:extLst>
              <a:ext uri="{FF2B5EF4-FFF2-40B4-BE49-F238E27FC236}">
                <a16:creationId xmlns:a16="http://schemas.microsoft.com/office/drawing/2014/main" id="{7795F2FB-1CB4-4692-8213-6B0D9B27B610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5372100" cy="2647950"/>
          </a:xfrm>
          <a:prstGeom prst="roundRect">
            <a:avLst>
              <a:gd name="adj" fmla="val 7194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Оценка качества агентов">
            <a:extLst>
              <a:ext uri="{FF2B5EF4-FFF2-40B4-BE49-F238E27FC236}">
                <a16:creationId xmlns:a16="http://schemas.microsoft.com/office/drawing/2014/main" id="{8326203C-985A-47F3-A08D-52F88B8ECCD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Оценка качества агентов</a:t>
            </a:r>
          </a:p>
        </p:txBody>
      </p:sp>
      <p:sp>
        <p:nvSpPr>
          <p:cNvPr id="4" name="Техническая работоспособность">
            <a:extLst>
              <a:ext uri="{FF2B5EF4-FFF2-40B4-BE49-F238E27FC236}">
                <a16:creationId xmlns:a16="http://schemas.microsoft.com/office/drawing/2014/main" id="{092E42E9-2934-420E-9160-A9909912CAC5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4762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Техническая</a:t>
            </a:r>
          </a:p>
          <a:p>
            <a:pPr algn="l">
              <a:lnSpc>
                <a:spcPct val="113000"/>
              </a:lnSpc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работоспособность</a:t>
            </a:r>
          </a:p>
        </p:txBody>
      </p:sp>
      <p:sp>
        <p:nvSpPr>
          <p:cNvPr id="5" name="Завершение задачи, ошибки, повторы&#10;и соблю">
            <a:extLst>
              <a:ext uri="{FF2B5EF4-FFF2-40B4-BE49-F238E27FC236}">
                <a16:creationId xmlns:a16="http://schemas.microsoft.com/office/drawing/2014/main" id="{B66F91E7-7153-4690-B784-16488A2ECE45}"/>
              </a:ext>
            </a:extLst>
          </p:cNvPr>
          <p:cNvSpPr>
            <a:spLocks noGrp="1"/>
          </p:cNvSpPr>
          <p:nvPr/>
        </p:nvSpPr>
        <p:spPr>
          <a:xfrm>
            <a:off x="914400" y="308610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Завершение задачи,</a:t>
            </a:r>
          </a:p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ошибки, повторы</a:t>
            </a:r>
          </a:p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и соблюдение контракта.</a:t>
            </a:r>
          </a:p>
        </p:txBody>
      </p:sp>
      <p:sp>
        <p:nvSpPr>
          <p:cNvPr id="6" name="Смысловая правильность">
            <a:extLst>
              <a:ext uri="{FF2B5EF4-FFF2-40B4-BE49-F238E27FC236}">
                <a16:creationId xmlns:a16="http://schemas.microsoft.com/office/drawing/2014/main" id="{08F5A349-B861-499F-8771-EAA72B72712E}"/>
              </a:ext>
            </a:extLst>
          </p:cNvPr>
          <p:cNvSpPr>
            <a:spLocks noGrp="1"/>
          </p:cNvSpPr>
          <p:nvPr/>
        </p:nvSpPr>
        <p:spPr>
          <a:xfrm>
            <a:off x="6515100" y="2047875"/>
            <a:ext cx="4762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Смысловая</a:t>
            </a:r>
          </a:p>
          <a:p>
            <a:pPr algn="l">
              <a:lnSpc>
                <a:spcPct val="113000"/>
              </a:lnSpc>
              <a:buNone/>
              <a:defRPr sz="22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правильность</a:t>
            </a:r>
          </a:p>
        </p:txBody>
      </p:sp>
      <p:sp>
        <p:nvSpPr>
          <p:cNvPr id="7" name="Эксперт сверяет результат с исходником.&#10;Не">
            <a:extLst>
              <a:ext uri="{FF2B5EF4-FFF2-40B4-BE49-F238E27FC236}">
                <a16:creationId xmlns:a16="http://schemas.microsoft.com/office/drawing/2014/main" id="{C721A7EC-53FE-43B0-83A0-D97883B961EA}"/>
              </a:ext>
            </a:extLst>
          </p:cNvPr>
          <p:cNvSpPr>
            <a:spLocks noGrp="1"/>
          </p:cNvSpPr>
          <p:nvPr/>
        </p:nvSpPr>
        <p:spPr>
          <a:xfrm>
            <a:off x="6515100" y="3086100"/>
            <a:ext cx="4762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Эксперт сверяет результат с исходником.</a:t>
            </a:r>
          </a:p>
          <a:p>
            <a:pPr algn="l">
              <a:lnSpc>
                <a:spcPct val="113000"/>
              </a:lnSpc>
              <a:buNone/>
              <a:defRPr sz="1913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13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Неизвестные данные остаются неизвестными.</a:t>
            </a:r>
          </a:p>
        </p:txBody>
      </p:sp>
      <p:sp>
        <p:nvSpPr>
          <p:cNvPr id="8" name="Сопоставимые запуски, отдельные роли и вер">
            <a:extLst>
              <a:ext uri="{FF2B5EF4-FFF2-40B4-BE49-F238E27FC236}">
                <a16:creationId xmlns:a16="http://schemas.microsoft.com/office/drawing/2014/main" id="{5074E197-9981-437D-B0C9-2F6498836526}"/>
              </a:ext>
            </a:extLst>
          </p:cNvPr>
          <p:cNvSpPr>
            <a:spLocks noGrp="1"/>
          </p:cNvSpPr>
          <p:nvPr/>
        </p:nvSpPr>
        <p:spPr>
          <a:xfrm>
            <a:off x="914400" y="4729163"/>
            <a:ext cx="10363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EE85"/>
                </a:solidFill>
                <a:latin typeface="Arial"/>
                <a:ea typeface="Arial"/>
                <a:cs typeface="Arial"/>
              </a:rPr>
              <a:t>Сопоставимые запуски, отдельные роли и версии модели</a:t>
            </a:r>
          </a:p>
        </p:txBody>
      </p:sp>
      <p:sp>
        <p:nvSpPr>
          <p:cNvPr id="9" name="Время, стоимость и качество оцениваются ра">
            <a:extLst>
              <a:ext uri="{FF2B5EF4-FFF2-40B4-BE49-F238E27FC236}">
                <a16:creationId xmlns:a16="http://schemas.microsoft.com/office/drawing/2014/main" id="{D3F8DB3F-04B1-42C9-B64B-02DEF50B4B48}"/>
              </a:ext>
            </a:extLst>
          </p:cNvPr>
          <p:cNvSpPr>
            <a:spLocks noGrp="1"/>
          </p:cNvSpPr>
          <p:nvPr/>
        </p:nvSpPr>
        <p:spPr>
          <a:xfrm>
            <a:off x="914400" y="5195888"/>
            <a:ext cx="10363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72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Время, стоимость и качество оцениваются раздельно</a:t>
            </a:r>
          </a:p>
        </p:txBody>
      </p:sp>
      <p:sp>
        <p:nvSpPr>
          <p:cNvPr id="11" name="Разделитель">
            <a:extLst>
              <a:ext uri="{FF2B5EF4-FFF2-40B4-BE49-F238E27FC236}">
                <a16:creationId xmlns:a16="http://schemas.microsoft.com/office/drawing/2014/main" id="{A5A85D1D-08FD-42DD-964E-144A0E3E4DB5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7DEFA2A6-E035-49CE-B705-3D1AFDA10869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14">
            <a:extLst>
              <a:ext uri="{FF2B5EF4-FFF2-40B4-BE49-F238E27FC236}">
                <a16:creationId xmlns:a16="http://schemas.microsoft.com/office/drawing/2014/main" id="{D6DCE761-FF42-4995-85FB-2B9208590FB6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74079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метрик">
            <a:extLst>
              <a:ext uri="{FF2B5EF4-FFF2-40B4-BE49-F238E27FC236}">
                <a16:creationId xmlns:a16="http://schemas.microsoft.com/office/drawing/2014/main" id="{531BEC25-FB12-454E-9526-914C8323001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Метрики работы ИИ-агентов</a:t>
            </a:r>
          </a:p>
        </p:txBody>
      </p:sp>
      <p:sp>
        <p:nvSpPr>
          <p:cNvPr id="2" name="Метрика: экономия времени">
            <a:extLst>
              <a:ext uri="{FF2B5EF4-FFF2-40B4-BE49-F238E27FC236}">
                <a16:creationId xmlns:a16="http://schemas.microsoft.com/office/drawing/2014/main" id="{19C3CD6A-66CE-4596-82C9-F36BBB077BDE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3848100" cy="3886200"/>
          </a:xfrm>
          <a:prstGeom prst="roundRect">
            <a:avLst>
              <a:gd name="adj" fmla="val 4950"/>
            </a:avLst>
          </a:prstGeom>
          <a:gradFill>
            <a:gsLst>
              <a:gs pos="0">
                <a:srgbClr val="26301F"/>
              </a:gs>
              <a:gs pos="100000">
                <a:srgbClr val="161F1A"/>
              </a:gs>
            </a:gsLst>
            <a:lin ang="8100000"/>
          </a:gradFill>
          <a:ln w="9525">
            <a:solidFill>
              <a:srgbClr val="4654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Экономия: значение">
            <a:extLst>
              <a:ext uri="{FF2B5EF4-FFF2-40B4-BE49-F238E27FC236}">
                <a16:creationId xmlns:a16="http://schemas.microsoft.com/office/drawing/2014/main" id="{DCB8473B-2C8F-468D-B40F-BB25A14B538D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3238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6300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C7EE85"/>
                </a:solidFill>
                <a:latin typeface="Arial"/>
                <a:ea typeface="Arial"/>
                <a:cs typeface="Arial"/>
              </a:rPr>
              <a:t>21,8%</a:t>
            </a:r>
          </a:p>
        </p:txBody>
      </p:sp>
      <p:sp>
        <p:nvSpPr>
          <p:cNvPr id="4" name="Экономия: описание">
            <a:extLst>
              <a:ext uri="{FF2B5EF4-FFF2-40B4-BE49-F238E27FC236}">
                <a16:creationId xmlns:a16="http://schemas.microsoft.com/office/drawing/2014/main" id="{95A0B688-A6F5-44D4-B59A-C2A39EB50D80}"/>
              </a:ext>
            </a:extLst>
          </p:cNvPr>
          <p:cNvSpPr>
            <a:spLocks noGrp="1"/>
          </p:cNvSpPr>
          <p:nvPr/>
        </p:nvSpPr>
        <p:spPr>
          <a:xfrm>
            <a:off x="914400" y="3476625"/>
            <a:ext cx="3238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Экономия времени</a:t>
            </a:r>
          </a:p>
          <a:p>
            <a:pPr algn="l">
              <a:lnSpc>
                <a:spcPct val="113000"/>
              </a:lnSpc>
              <a:buNone/>
              <a:defRPr sz="2175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подготовки КП</a:t>
            </a:r>
          </a:p>
        </p:txBody>
      </p:sp>
      <p:sp>
        <p:nvSpPr>
          <p:cNvPr id="5" name="Экономия: метод">
            <a:extLst>
              <a:ext uri="{FF2B5EF4-FFF2-40B4-BE49-F238E27FC236}">
                <a16:creationId xmlns:a16="http://schemas.microsoft.com/office/drawing/2014/main" id="{957993B8-53C7-4611-894A-5E87E994DD80}"/>
              </a:ext>
            </a:extLst>
          </p:cNvPr>
          <p:cNvSpPr>
            <a:spLocks noGrp="1"/>
          </p:cNvSpPr>
          <p:nvPr/>
        </p:nvSpPr>
        <p:spPr>
          <a:xfrm>
            <a:off x="914400" y="4591050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650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В автопрогоне</a:t>
            </a:r>
          </a:p>
        </p:txBody>
      </p:sp>
      <p:sp>
        <p:nvSpPr>
          <p:cNvPr id="6" name="Метрика: Заказ и исполнение">
            <a:extLst>
              <a:ext uri="{FF2B5EF4-FFF2-40B4-BE49-F238E27FC236}">
                <a16:creationId xmlns:a16="http://schemas.microsoft.com/office/drawing/2014/main" id="{2F743B97-3849-4CA7-950B-731360EB12E9}"/>
              </a:ext>
            </a:extLst>
          </p:cNvPr>
          <p:cNvSpPr>
            <a:spLocks noGrp="1"/>
          </p:cNvSpPr>
          <p:nvPr/>
        </p:nvSpPr>
        <p:spPr>
          <a:xfrm>
            <a:off x="4686300" y="1771650"/>
            <a:ext cx="6896100" cy="1181100"/>
          </a:xfrm>
          <a:prstGeom prst="roundRect">
            <a:avLst>
              <a:gd name="adj" fmla="val 16129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Заказ и исполнение: значение">
            <a:extLst>
              <a:ext uri="{FF2B5EF4-FFF2-40B4-BE49-F238E27FC236}">
                <a16:creationId xmlns:a16="http://schemas.microsoft.com/office/drawing/2014/main" id="{6AB01AF9-0055-4AA3-8743-8C26600F9F79}"/>
              </a:ext>
            </a:extLst>
          </p:cNvPr>
          <p:cNvSpPr>
            <a:spLocks noGrp="1"/>
          </p:cNvSpPr>
          <p:nvPr/>
        </p:nvSpPr>
        <p:spPr>
          <a:xfrm>
            <a:off x="4972050" y="2028825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48/48</a:t>
            </a:r>
          </a:p>
        </p:txBody>
      </p:sp>
      <p:sp>
        <p:nvSpPr>
          <p:cNvPr id="8" name="Заказ и исполнение: название">
            <a:extLst>
              <a:ext uri="{FF2B5EF4-FFF2-40B4-BE49-F238E27FC236}">
                <a16:creationId xmlns:a16="http://schemas.microsoft.com/office/drawing/2014/main" id="{C24039B0-9E5D-40CC-A96D-811B5E581F84}"/>
              </a:ext>
            </a:extLst>
          </p:cNvPr>
          <p:cNvSpPr>
            <a:spLocks noGrp="1"/>
          </p:cNvSpPr>
          <p:nvPr/>
        </p:nvSpPr>
        <p:spPr>
          <a:xfrm>
            <a:off x="7143750" y="1952625"/>
            <a:ext cx="4152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Заказ и исполнение</a:t>
            </a:r>
          </a:p>
        </p:txBody>
      </p:sp>
      <p:sp>
        <p:nvSpPr>
          <p:cNvPr id="9" name="Заказ и исполнение: пояснение">
            <a:extLst>
              <a:ext uri="{FF2B5EF4-FFF2-40B4-BE49-F238E27FC236}">
                <a16:creationId xmlns:a16="http://schemas.microsoft.com/office/drawing/2014/main" id="{AB0D8B16-08F1-4437-B583-BEEF44E610A2}"/>
              </a:ext>
            </a:extLst>
          </p:cNvPr>
          <p:cNvSpPr>
            <a:spLocks noGrp="1"/>
          </p:cNvSpPr>
          <p:nvPr/>
        </p:nvSpPr>
        <p:spPr>
          <a:xfrm>
            <a:off x="7143750" y="2400300"/>
            <a:ext cx="4152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Сквозные серверные проверки</a:t>
            </a:r>
          </a:p>
        </p:txBody>
      </p:sp>
      <p:sp>
        <p:nvSpPr>
          <p:cNvPr id="10" name="Метрика: Заявки разобраны верно">
            <a:extLst>
              <a:ext uri="{FF2B5EF4-FFF2-40B4-BE49-F238E27FC236}">
                <a16:creationId xmlns:a16="http://schemas.microsoft.com/office/drawing/2014/main" id="{E94699B7-6602-4DDB-BABF-05AC35420B0A}"/>
              </a:ext>
            </a:extLst>
          </p:cNvPr>
          <p:cNvSpPr>
            <a:spLocks noGrp="1"/>
          </p:cNvSpPr>
          <p:nvPr/>
        </p:nvSpPr>
        <p:spPr>
          <a:xfrm>
            <a:off x="4686300" y="3124200"/>
            <a:ext cx="6896100" cy="1181100"/>
          </a:xfrm>
          <a:prstGeom prst="roundRect">
            <a:avLst>
              <a:gd name="adj" fmla="val 16129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Заявки разобраны верно: значение">
            <a:extLst>
              <a:ext uri="{FF2B5EF4-FFF2-40B4-BE49-F238E27FC236}">
                <a16:creationId xmlns:a16="http://schemas.microsoft.com/office/drawing/2014/main" id="{8A2EF018-8473-439F-B8CB-411C425D465B}"/>
              </a:ext>
            </a:extLst>
          </p:cNvPr>
          <p:cNvSpPr>
            <a:spLocks noGrp="1"/>
          </p:cNvSpPr>
          <p:nvPr/>
        </p:nvSpPr>
        <p:spPr>
          <a:xfrm>
            <a:off x="4972050" y="3381375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55/55</a:t>
            </a:r>
          </a:p>
        </p:txBody>
      </p:sp>
      <p:sp>
        <p:nvSpPr>
          <p:cNvPr id="12" name="Заявки разобраны верно: название">
            <a:extLst>
              <a:ext uri="{FF2B5EF4-FFF2-40B4-BE49-F238E27FC236}">
                <a16:creationId xmlns:a16="http://schemas.microsoft.com/office/drawing/2014/main" id="{7694594A-2D5F-4DEA-8B3E-30986F67F726}"/>
              </a:ext>
            </a:extLst>
          </p:cNvPr>
          <p:cNvSpPr>
            <a:spLocks noGrp="1"/>
          </p:cNvSpPr>
          <p:nvPr/>
        </p:nvSpPr>
        <p:spPr>
          <a:xfrm>
            <a:off x="7143750" y="3305175"/>
            <a:ext cx="4152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Заявки разобраны верно</a:t>
            </a:r>
          </a:p>
        </p:txBody>
      </p:sp>
      <p:sp>
        <p:nvSpPr>
          <p:cNvPr id="13" name="Заявки разобраны верно: пояснение">
            <a:extLst>
              <a:ext uri="{FF2B5EF4-FFF2-40B4-BE49-F238E27FC236}">
                <a16:creationId xmlns:a16="http://schemas.microsoft.com/office/drawing/2014/main" id="{93ECFD70-B255-460B-8848-05AB475A6E15}"/>
              </a:ext>
            </a:extLst>
          </p:cNvPr>
          <p:cNvSpPr>
            <a:spLocks noGrp="1"/>
          </p:cNvSpPr>
          <p:nvPr/>
        </p:nvSpPr>
        <p:spPr>
          <a:xfrm>
            <a:off x="7143750" y="3752850"/>
            <a:ext cx="4152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Факты и противоречия сохранены</a:t>
            </a:r>
          </a:p>
        </p:txBody>
      </p:sp>
      <p:sp>
        <p:nvSpPr>
          <p:cNvPr id="14" name="Метрика: Взаимодействие ролей">
            <a:extLst>
              <a:ext uri="{FF2B5EF4-FFF2-40B4-BE49-F238E27FC236}">
                <a16:creationId xmlns:a16="http://schemas.microsoft.com/office/drawing/2014/main" id="{8800B817-57FA-4B93-9D2F-AF6CCFEAF6D3}"/>
              </a:ext>
            </a:extLst>
          </p:cNvPr>
          <p:cNvSpPr>
            <a:spLocks noGrp="1"/>
          </p:cNvSpPr>
          <p:nvPr/>
        </p:nvSpPr>
        <p:spPr>
          <a:xfrm>
            <a:off x="4686300" y="4476750"/>
            <a:ext cx="6896100" cy="1181100"/>
          </a:xfrm>
          <a:prstGeom prst="roundRect">
            <a:avLst>
              <a:gd name="adj" fmla="val 16129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Взаимодействие ролей: значение">
            <a:extLst>
              <a:ext uri="{FF2B5EF4-FFF2-40B4-BE49-F238E27FC236}">
                <a16:creationId xmlns:a16="http://schemas.microsoft.com/office/drawing/2014/main" id="{2E310459-BFE2-4656-9FBB-2135DA73B87D}"/>
              </a:ext>
            </a:extLst>
          </p:cNvPr>
          <p:cNvSpPr>
            <a:spLocks noGrp="1"/>
          </p:cNvSpPr>
          <p:nvPr/>
        </p:nvSpPr>
        <p:spPr>
          <a:xfrm>
            <a:off x="4972050" y="4733925"/>
            <a:ext cx="190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4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6" name="Взаимодействие ролей: название">
            <a:extLst>
              <a:ext uri="{FF2B5EF4-FFF2-40B4-BE49-F238E27FC236}">
                <a16:creationId xmlns:a16="http://schemas.microsoft.com/office/drawing/2014/main" id="{2B6AA61E-B44B-4B6F-9B85-3D3EB375F4C1}"/>
              </a:ext>
            </a:extLst>
          </p:cNvPr>
          <p:cNvSpPr>
            <a:spLocks noGrp="1"/>
          </p:cNvSpPr>
          <p:nvPr/>
        </p:nvSpPr>
        <p:spPr>
          <a:xfrm>
            <a:off x="7143750" y="4657725"/>
            <a:ext cx="4152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Взаимодействие ролей</a:t>
            </a:r>
          </a:p>
        </p:txBody>
      </p:sp>
      <p:sp>
        <p:nvSpPr>
          <p:cNvPr id="17" name="Взаимодействие ролей: пояснение">
            <a:extLst>
              <a:ext uri="{FF2B5EF4-FFF2-40B4-BE49-F238E27FC236}">
                <a16:creationId xmlns:a16="http://schemas.microsoft.com/office/drawing/2014/main" id="{1DFB8C1E-EF87-42A3-8138-D0A1DB1CABD6}"/>
              </a:ext>
            </a:extLst>
          </p:cNvPr>
          <p:cNvSpPr>
            <a:spLocks noGrp="1"/>
          </p:cNvSpPr>
          <p:nvPr/>
        </p:nvSpPr>
        <p:spPr>
          <a:xfrm>
            <a:off x="7143750" y="5105400"/>
            <a:ext cx="41529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6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100/100 вызовов, 50/50 привязок</a:t>
            </a:r>
          </a:p>
        </p:txBody>
      </p:sp>
      <p:sp>
        <p:nvSpPr>
          <p:cNvPr id="18" name="Оговорка измерений">
            <a:extLst>
              <a:ext uri="{FF2B5EF4-FFF2-40B4-BE49-F238E27FC236}">
                <a16:creationId xmlns:a16="http://schemas.microsoft.com/office/drawing/2014/main" id="{65A96D9B-C6C1-47B2-9926-AEDCC2563CA0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endParaRPr sz="1313" b="0" dirty="0">
              <a:solidFill>
                <a:srgbClr val="B8B7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Разделитель">
            <a:extLst>
              <a:ext uri="{FF2B5EF4-FFF2-40B4-BE49-F238E27FC236}">
                <a16:creationId xmlns:a16="http://schemas.microsoft.com/office/drawing/2014/main" id="{DED3DEA4-006F-4CC9-9789-02B5E60D8A1A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ПоРукам">
            <a:extLst>
              <a:ext uri="{FF2B5EF4-FFF2-40B4-BE49-F238E27FC236}">
                <a16:creationId xmlns:a16="http://schemas.microsoft.com/office/drawing/2014/main" id="{38FC2E40-0780-41F4-91D6-D497F5F380BD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21" name="Номер слайда">
            <a:extLst>
              <a:ext uri="{FF2B5EF4-FFF2-40B4-BE49-F238E27FC236}">
                <a16:creationId xmlns:a16="http://schemas.microsoft.com/office/drawing/2014/main" id="{EB0DF4E4-623D-458A-AC95-74135CFDBEC1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05170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мысловой блок 15 860-186">
            <a:extLst>
              <a:ext uri="{FF2B5EF4-FFF2-40B4-BE49-F238E27FC236}">
                <a16:creationId xmlns:a16="http://schemas.microsoft.com/office/drawing/2014/main" id="{8063162A-778A-43CF-AB7B-EFCAB351C4E2}"/>
              </a:ext>
            </a:extLst>
          </p:cNvPr>
          <p:cNvSpPr>
            <a:spLocks noGrp="1"/>
          </p:cNvSpPr>
          <p:nvPr/>
        </p:nvSpPr>
        <p:spPr>
          <a:xfrm>
            <a:off x="8191500" y="1771650"/>
            <a:ext cx="3390900" cy="3886200"/>
          </a:xfrm>
          <a:prstGeom prst="roundRect">
            <a:avLst>
              <a:gd name="adj" fmla="val 5618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Смысловой блок 15 64-186">
            <a:extLst>
              <a:ext uri="{FF2B5EF4-FFF2-40B4-BE49-F238E27FC236}">
                <a16:creationId xmlns:a16="http://schemas.microsoft.com/office/drawing/2014/main" id="{91A090E2-A51C-4C1F-A9EE-90AE16818278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7353300" cy="3886200"/>
          </a:xfrm>
          <a:prstGeom prst="roundRect">
            <a:avLst>
              <a:gd name="adj" fmla="val 4902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Рабочий маршрут прототипа">
            <a:extLst>
              <a:ext uri="{FF2B5EF4-FFF2-40B4-BE49-F238E27FC236}">
                <a16:creationId xmlns:a16="http://schemas.microsoft.com/office/drawing/2014/main" id="{215E042A-4920-49A0-A9A8-D2099362923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330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Рабочий маршрут прототипа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38F3A7-9478-4CB3-B06B-BD7AA6703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905000"/>
            <a:ext cx="7048500" cy="3624981"/>
          </a:xfrm>
          <a:prstGeom prst="rect">
            <a:avLst/>
          </a:prstGeom>
        </p:spPr>
      </p:pic>
      <p:sp>
        <p:nvSpPr>
          <p:cNvPr id="5" name="Следующий шаг&#10;для компании">
            <a:extLst>
              <a:ext uri="{FF2B5EF4-FFF2-40B4-BE49-F238E27FC236}">
                <a16:creationId xmlns:a16="http://schemas.microsoft.com/office/drawing/2014/main" id="{94E75B4B-0DBD-4E5F-8C4C-30507B295A6B}"/>
              </a:ext>
            </a:extLst>
          </p:cNvPr>
          <p:cNvSpPr>
            <a:spLocks noGrp="1"/>
          </p:cNvSpPr>
          <p:nvPr/>
        </p:nvSpPr>
        <p:spPr>
          <a:xfrm>
            <a:off x="8458200" y="2114550"/>
            <a:ext cx="2857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Следующий шаг</a:t>
            </a:r>
          </a:p>
          <a:p>
            <a:pPr algn="l">
              <a:lnSpc>
                <a:spcPct val="113000"/>
              </a:lnSpc>
              <a:buNone/>
              <a:defRPr sz="2175" b="1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A9AFF"/>
                </a:solidFill>
                <a:latin typeface="Arial"/>
                <a:ea typeface="Arial"/>
                <a:cs typeface="Arial"/>
              </a:rPr>
              <a:t>для компании</a:t>
            </a:r>
          </a:p>
        </p:txBody>
      </p:sp>
      <p:sp>
        <p:nvSpPr>
          <p:cNvPr id="6" name="Покупка и продажа&#10;в одном аккаунте">
            <a:extLst>
              <a:ext uri="{FF2B5EF4-FFF2-40B4-BE49-F238E27FC236}">
                <a16:creationId xmlns:a16="http://schemas.microsoft.com/office/drawing/2014/main" id="{F3156FE1-B632-40D2-A41B-DE6B6A56C703}"/>
              </a:ext>
            </a:extLst>
          </p:cNvPr>
          <p:cNvSpPr>
            <a:spLocks noGrp="1"/>
          </p:cNvSpPr>
          <p:nvPr/>
        </p:nvSpPr>
        <p:spPr>
          <a:xfrm>
            <a:off x="8458200" y="3276600"/>
            <a:ext cx="2857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Покупка и продажа</a:t>
            </a:r>
          </a:p>
          <a:p>
            <a:pPr algn="l">
              <a:lnSpc>
                <a:spcPct val="113000"/>
              </a:lnSpc>
              <a:buNone/>
              <a:defRPr sz="1950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в одном аккаунте</a:t>
            </a:r>
          </a:p>
        </p:txBody>
      </p:sp>
      <p:sp>
        <p:nvSpPr>
          <p:cNvPr id="7" name="Версии условий&#10;и явные подтверждения">
            <a:extLst>
              <a:ext uri="{FF2B5EF4-FFF2-40B4-BE49-F238E27FC236}">
                <a16:creationId xmlns:a16="http://schemas.microsoft.com/office/drawing/2014/main" id="{40AABCFC-AF20-41FA-8CD8-9223A9B3FDD9}"/>
              </a:ext>
            </a:extLst>
          </p:cNvPr>
          <p:cNvSpPr>
            <a:spLocks noGrp="1"/>
          </p:cNvSpPr>
          <p:nvPr/>
        </p:nvSpPr>
        <p:spPr>
          <a:xfrm>
            <a:off x="8458200" y="4572000"/>
            <a:ext cx="28575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E85"/>
                </a:solidFill>
                <a:latin typeface="Arial"/>
                <a:ea typeface="Arial"/>
                <a:cs typeface="Arial"/>
              </a:rPr>
              <a:t>Версии условий</a:t>
            </a:r>
          </a:p>
          <a:p>
            <a:pPr algn="l">
              <a:lnSpc>
                <a:spcPct val="113000"/>
              </a:lnSpc>
              <a:buNone/>
              <a:defRPr sz="1875" b="0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E85"/>
                </a:solidFill>
                <a:latin typeface="Arial"/>
                <a:ea typeface="Arial"/>
                <a:cs typeface="Arial"/>
              </a:rPr>
              <a:t>и явные подтверждения</a:t>
            </a:r>
          </a:p>
        </p:txBody>
      </p:sp>
      <p:sp>
        <p:nvSpPr>
          <p:cNvPr id="8" name="Интерфейс на синтетическом сценарии. Работ">
            <a:extLst>
              <a:ext uri="{FF2B5EF4-FFF2-40B4-BE49-F238E27FC236}">
                <a16:creationId xmlns:a16="http://schemas.microsoft.com/office/drawing/2014/main" id="{125A9F1F-E50A-4713-82C6-BEE281B7384F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313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endParaRPr sz="1313" b="0" dirty="0">
              <a:solidFill>
                <a:srgbClr val="B8B7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Разделитель">
            <a:extLst>
              <a:ext uri="{FF2B5EF4-FFF2-40B4-BE49-F238E27FC236}">
                <a16:creationId xmlns:a16="http://schemas.microsoft.com/office/drawing/2014/main" id="{71B23B68-9E9F-42A6-BBA4-BB06938B4BE0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9728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Разделитель">
            <a:extLst>
              <a:ext uri="{FF2B5EF4-FFF2-40B4-BE49-F238E27FC236}">
                <a16:creationId xmlns:a16="http://schemas.microsoft.com/office/drawing/2014/main" id="{04B36AD4-2428-4987-BC6D-051261BBA827}"/>
              </a:ext>
            </a:extLst>
          </p:cNvPr>
          <p:cNvSpPr>
            <a:spLocks noGrp="1"/>
          </p:cNvSpPr>
          <p:nvPr/>
        </p:nvSpPr>
        <p:spPr>
          <a:xfrm>
            <a:off x="8458200" y="3086100"/>
            <a:ext cx="28575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Разделитель">
            <a:extLst>
              <a:ext uri="{FF2B5EF4-FFF2-40B4-BE49-F238E27FC236}">
                <a16:creationId xmlns:a16="http://schemas.microsoft.com/office/drawing/2014/main" id="{E3B2D44C-5C9A-49EC-8733-2B9F85DAB773}"/>
              </a:ext>
            </a:extLst>
          </p:cNvPr>
          <p:cNvSpPr>
            <a:spLocks noGrp="1"/>
          </p:cNvSpPr>
          <p:nvPr/>
        </p:nvSpPr>
        <p:spPr>
          <a:xfrm>
            <a:off x="8458200" y="4314825"/>
            <a:ext cx="2857500" cy="0"/>
          </a:xfrm>
          <a:prstGeom prst="line">
            <a:avLst/>
          </a:prstGeom>
          <a:noFill/>
          <a:ln w="7620">
            <a:solidFill>
              <a:srgbClr val="2B2C3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ПоРукам">
            <a:extLst>
              <a:ext uri="{FF2B5EF4-FFF2-40B4-BE49-F238E27FC236}">
                <a16:creationId xmlns:a16="http://schemas.microsoft.com/office/drawing/2014/main" id="{3BF576AE-91E9-47D9-87FE-4034DC694942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3" name="15">
            <a:extLst>
              <a:ext uri="{FF2B5EF4-FFF2-40B4-BE49-F238E27FC236}">
                <a16:creationId xmlns:a16="http://schemas.microsoft.com/office/drawing/2014/main" id="{204C2ED1-1CCD-4E03-AE7F-F015828D879A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91535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1945D6-ACB1-46D1-85C5-4578B465A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9" name="Смысловой блок 16 64-480">
            <a:extLst>
              <a:ext uri="{FF2B5EF4-FFF2-40B4-BE49-F238E27FC236}">
                <a16:creationId xmlns:a16="http://schemas.microsoft.com/office/drawing/2014/main" id="{3DD18D46-C761-4155-8EA5-6BEE6B0E7F7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5962650" cy="133350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C1B29"/>
              </a:gs>
              <a:gs pos="100000">
                <a:srgbClr val="141721"/>
              </a:gs>
            </a:gsLst>
            <a:lin ang="7800000"/>
          </a:gradFill>
          <a:ln w="9525">
            <a:solidFill>
              <a:srgbClr val="38344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ПоРукам">
            <a:extLst>
              <a:ext uri="{FF2B5EF4-FFF2-40B4-BE49-F238E27FC236}">
                <a16:creationId xmlns:a16="http://schemas.microsoft.com/office/drawing/2014/main" id="{C29A9820-56EC-47D0-A658-737997FDECEA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6477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6750" b="1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5F3F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5" name="Согласованный заказ&#10;с участием ИИ-агентов">
            <a:extLst>
              <a:ext uri="{FF2B5EF4-FFF2-40B4-BE49-F238E27FC236}">
                <a16:creationId xmlns:a16="http://schemas.microsoft.com/office/drawing/2014/main" id="{B9A39A13-29D7-4C57-A1B2-E80867E2ABCF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6115050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Согласованный заказ</a:t>
            </a:r>
          </a:p>
          <a:p>
            <a:pPr algn="l">
              <a:lnSpc>
                <a:spcPct val="113000"/>
              </a:lnSpc>
              <a:buNone/>
              <a:defRPr sz="2775" b="0">
                <a:solidFill>
                  <a:srgbClr val="F5F3FC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5F3FC"/>
                </a:solidFill>
                <a:latin typeface="Arial"/>
                <a:ea typeface="Arial"/>
                <a:cs typeface="Arial"/>
              </a:rPr>
              <a:t>с участием ИИ-агентов</a:t>
            </a:r>
          </a:p>
        </p:txBody>
      </p:sp>
      <p:sp>
        <p:nvSpPr>
          <p:cNvPr id="6" name="rlt.trupper.ru">
            <a:extLst>
              <a:ext uri="{FF2B5EF4-FFF2-40B4-BE49-F238E27FC236}">
                <a16:creationId xmlns:a16="http://schemas.microsoft.com/office/drawing/2014/main" id="{64F4010E-50FD-4B2A-83F3-CAD6711FEAAF}"/>
              </a:ext>
            </a:extLst>
          </p:cNvPr>
          <p:cNvSpPr>
            <a:spLocks noGrp="1"/>
          </p:cNvSpPr>
          <p:nvPr/>
        </p:nvSpPr>
        <p:spPr>
          <a:xfrm>
            <a:off x="838200" y="4729163"/>
            <a:ext cx="5505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2325" b="1">
                <a:solidFill>
                  <a:srgbClr val="C7EE8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7EE85"/>
                </a:solidFill>
                <a:latin typeface="Arial"/>
                <a:ea typeface="Arial"/>
                <a:cs typeface="Arial"/>
              </a:rPr>
              <a:t>rlt.trupper.ru</a:t>
            </a:r>
          </a:p>
        </p:txBody>
      </p:sp>
      <p:sp>
        <p:nvSpPr>
          <p:cNvPr id="7" name="github.com/NawOmen/R136a1">
            <a:extLst>
              <a:ext uri="{FF2B5EF4-FFF2-40B4-BE49-F238E27FC236}">
                <a16:creationId xmlns:a16="http://schemas.microsoft.com/office/drawing/2014/main" id="{D0EE9C4D-5A40-45E3-BA89-D91C46E58D56}"/>
              </a:ext>
            </a:extLst>
          </p:cNvPr>
          <p:cNvSpPr>
            <a:spLocks noGrp="1"/>
          </p:cNvSpPr>
          <p:nvPr/>
        </p:nvSpPr>
        <p:spPr>
          <a:xfrm>
            <a:off x="838200" y="5310188"/>
            <a:ext cx="5505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875" b="0">
                <a:solidFill>
                  <a:srgbClr val="B8B7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B7C9"/>
                </a:solidFill>
                <a:latin typeface="Arial"/>
                <a:ea typeface="Arial"/>
                <a:cs typeface="Arial"/>
              </a:rPr>
              <a:t>github.com/NawOmen/R136a1</a:t>
            </a:r>
          </a:p>
        </p:txBody>
      </p:sp>
      <p:sp>
        <p:nvSpPr>
          <p:cNvPr id="8" name="ПоРукам">
            <a:extLst>
              <a:ext uri="{FF2B5EF4-FFF2-40B4-BE49-F238E27FC236}">
                <a16:creationId xmlns:a16="http://schemas.microsoft.com/office/drawing/2014/main" id="{A5EC17CD-E59E-4646-A65C-F573EFFFCC20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13000"/>
              </a:lnSpc>
              <a:buNone/>
              <a:defRPr sz="1050" b="0">
                <a:solidFill>
                  <a:srgbClr val="88869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869C"/>
                </a:solidFill>
                <a:latin typeface="Arial"/>
                <a:ea typeface="Arial"/>
                <a:cs typeface="Arial"/>
              </a:rPr>
              <a:t>ПоРукам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AAA2E7BC-5D75-4383-A0D3-D801E7E24C24}"/>
              </a:ext>
            </a:extLst>
          </p:cNvPr>
          <p:cNvSpPr>
            <a:spLocks noGrp="1"/>
          </p:cNvSpPr>
          <p:nvPr/>
        </p:nvSpPr>
        <p:spPr>
          <a:xfrm>
            <a:off x="11106150" y="6448425"/>
            <a:ext cx="476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13000"/>
              </a:lnSpc>
              <a:buNone/>
              <a:defRPr sz="1050" b="0">
                <a:solidFill>
                  <a:srgbClr val="BA9A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9A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221497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732</Words>
  <Application>Microsoft Office PowerPoint</Application>
  <DocSecurity>0</DocSecurity>
  <PresentationFormat>Широкоэкранный</PresentationFormat>
  <Paragraphs>211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Aptos</vt:lpstr>
      <vt:lpstr>Arial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Никита Бутаков</cp:lastModifiedBy>
  <cp:revision>2</cp:revision>
  <dcterms:created xsi:type="dcterms:W3CDTF">2026-10-24T07:24:19Z</dcterms:created>
  <dcterms:modified xsi:type="dcterms:W3CDTF">2026-10-24T09:13:32Z</dcterms:modified>
</cp:coreProperties>
</file>